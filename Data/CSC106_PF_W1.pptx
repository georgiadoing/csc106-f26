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B"/>
    <a:srgbClr val="FDFFF5"/>
    <a:srgbClr val="FFFFFE"/>
    <a:srgbClr val="9BC1F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6589"/>
    <p:restoredTop autoAdjust="0" sz="94694"/>
  </p:normalViewPr>
  <p:slideViewPr>
    <p:cSldViewPr snapToGrid="0" snapToObjects="1">
      <p:cViewPr varScale="1">
        <p:scale>
          <a:sx d="100" n="169"/>
          <a:sy d="100" n="169"/>
        </p:scale>
        <p:origin x="184" y="24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43049"/>
            <a:ext cx="7772400" cy="1102519"/>
          </a:xfrm>
          <a:prstGeom prst="rect">
            <a:avLst/>
          </a:prstGeom>
        </p:spPr>
        <p:txBody>
          <a:bodyPr/>
          <a:lstStyle/>
          <a:p>
            <a:r>
              <a:rPr lang="en-US"/>
              <a:t>Click to edit Master title style</a:t>
            </a:r>
            <a:endParaRPr lang="en-US" dirty="0"/>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483297"/>
            <a:ext cx="8229600" cy="857250"/>
          </a:xfrm>
          <a:prstGeom prst="rect">
            <a:avLst/>
          </a:prstGeom>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4/19/26</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a:prstGeom prst="rect">
            <a:avLst/>
          </a:prstGeom>
        </p:spPr>
        <p:txBody>
          <a:bodyPr anchor="t"/>
          <a:lstStyle>
            <a:lvl1pPr algn="l">
              <a:defRPr sz="3000" b="1" cap="all"/>
            </a:lvl1pPr>
          </a:lstStyle>
          <a:p>
            <a:r>
              <a:rPr lang="en-US"/>
              <a:t>Click to edit Master title style</a:t>
            </a:r>
            <a:endParaRPr lang="en-US" dirty="0"/>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483297"/>
            <a:ext cx="8229600" cy="857250"/>
          </a:xfrm>
          <a:prstGeom prst="rect">
            <a:avLst/>
          </a:prstGeom>
        </p:spPr>
        <p:txBody>
          <a:bodyPr/>
          <a:lstStyle/>
          <a:p>
            <a:r>
              <a:rPr lang="en-US"/>
              <a:t>Click to edit Master title style</a:t>
            </a:r>
            <a:endParaRPr lang="en-US" dirty="0"/>
          </a:p>
        </p:txBody>
      </p:sp>
      <p:sp>
        <p:nvSpPr>
          <p:cNvPr id="3" name="Content Placeholder 2"/>
          <p:cNvSpPr>
            <a:spLocks noGrp="1"/>
          </p:cNvSpPr>
          <p:nvPr>
            <p:ph sz="half" idx="1"/>
          </p:nvPr>
        </p:nvSpPr>
        <p:spPr>
          <a:xfrm>
            <a:off x="457200" y="1701383"/>
            <a:ext cx="4038600" cy="2893239"/>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48200" y="1701383"/>
            <a:ext cx="4038600" cy="2893240"/>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483297"/>
            <a:ext cx="8229600" cy="857250"/>
          </a:xfrm>
          <a:prstGeom prst="rect">
            <a:avLst/>
          </a:prstGeo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473620"/>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2061148"/>
            <a:ext cx="4040188" cy="253347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45026" y="1473620"/>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2061146"/>
            <a:ext cx="4041775" cy="253347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483297"/>
            <a:ext cx="8229600" cy="857250"/>
          </a:xfrm>
          <a:prstGeom prst="rect">
            <a:avLst/>
          </a:prstGeom>
        </p:spPr>
        <p:txBody>
          <a:bodyPr/>
          <a:lstStyle/>
          <a:p>
            <a:r>
              <a:rPr lang="en-US"/>
              <a:t>Click to edit Master title style</a:t>
            </a:r>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764498"/>
            <a:ext cx="3008313" cy="364292"/>
          </a:xfrm>
          <a:prstGeom prst="rect">
            <a:avLst/>
          </a:prstGeom>
        </p:spPr>
        <p:txBody>
          <a:bodyPr anchor="b"/>
          <a:lstStyle>
            <a:lvl1pPr algn="l">
              <a:defRPr sz="1500" b="1"/>
            </a:lvl1pPr>
          </a:lstStyle>
          <a:p>
            <a:r>
              <a:rPr lang="en-US"/>
              <a:t>Click to edit Master title style</a:t>
            </a:r>
            <a:endParaRPr lang="en-US" dirty="0"/>
          </a:p>
        </p:txBody>
      </p:sp>
      <p:sp>
        <p:nvSpPr>
          <p:cNvPr id="3" name="Content Placeholder 2"/>
          <p:cNvSpPr>
            <a:spLocks noGrp="1"/>
          </p:cNvSpPr>
          <p:nvPr>
            <p:ph idx="1"/>
          </p:nvPr>
        </p:nvSpPr>
        <p:spPr>
          <a:xfrm>
            <a:off x="3575050" y="1738859"/>
            <a:ext cx="5111750" cy="2855764"/>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738859"/>
            <a:ext cx="3008313" cy="2855764"/>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a:prstGeom prst="rect">
            <a:avLst/>
          </a:prstGeo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1543049"/>
            <a:ext cx="5486400" cy="2002631"/>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457200" y="483297"/>
            <a:ext cx="8229600" cy="857250"/>
          </a:xfrm>
          <a:prstGeom prst="rect">
            <a:avLst/>
          </a:prstGeom>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461541"/>
            <a:ext cx="2057400" cy="3133082"/>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461541"/>
            <a:ext cx="6019800" cy="313308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latin charset="0" panose="02000503020000020003" pitchFamily="2" typeface="Avenir Book"/>
              </a:defRPr>
            </a:lvl1pPr>
          </a:lstStyle>
          <a:p>
            <a:fld id="{C5EF2332-01BF-834F-8236-50238282D533}" type="slidenum">
              <a:rPr lang="en-US" smtClean="0"/>
              <a:pPr/>
              <a:t>‹#›</a:t>
            </a:fld>
            <a:endParaRPr dirty="0" lang="en-US"/>
          </a:p>
        </p:txBody>
      </p:sp>
      <p:sp>
        <p:nvSpPr>
          <p:cNvPr id="7" name="Title Placeholder 6">
            <a:extLst>
              <a:ext uri="{FF2B5EF4-FFF2-40B4-BE49-F238E27FC236}">
                <a16:creationId xmlns:a16="http://schemas.microsoft.com/office/drawing/2014/main" id="{7C9D60D8-FE13-7A5F-1388-42340999754A}"/>
              </a:ext>
            </a:extLst>
          </p:cNvPr>
          <p:cNvSpPr>
            <a:spLocks noGrp="1"/>
          </p:cNvSpPr>
          <p:nvPr>
            <p:ph type="title"/>
          </p:nvPr>
        </p:nvSpPr>
        <p:spPr>
          <a:xfrm>
            <a:off x="628650" y="274638"/>
            <a:ext cx="7886700" cy="993775"/>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457200" y="1656413"/>
            <a:ext cx="8229600" cy="2938210"/>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charset="0" panose="02000503020000020003" pitchFamily="2" typeface="Avenir Book"/>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charset="0" panose="02000503020000020003" pitchFamily="2" typeface="Avenir Book"/>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charset="0" panose="02000503020000020003" pitchFamily="2" typeface="Avenir Book"/>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charset="0" panose="02000503020000020003" pitchFamily="2" typeface="Avenir Book"/>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charset="0" panose="02000503020000020003" pitchFamily="2" typeface="Avenir Book"/>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charset="0" panose="02000503020000020003" pitchFamily="2" typeface="Avenir Book"/>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reeborg.ca/reeborg.html" TargetMode="Externa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image" Target="../media/image5.png"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43049"/>
            <a:ext cx="7772400" cy="1102519"/>
          </a:xfrm>
          <a:prstGeom prst="rect">
            <a:avLst/>
          </a:prstGeom>
        </p:spPr>
        <p:txBody>
          <a:bodyPr/>
          <a:lstStyle/>
          <a:p>
            <a:pPr lvl="0" indent="0" marL="0">
              <a:buNone/>
            </a:pPr>
            <a:r>
              <a:rPr/>
              <a:t>CSC 106 Can Computers Think? Portfolio 1, Student Inititals -</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NAME:</a:t>
            </a:r>
          </a:p>
          <a:p>
            <a:pPr lvl="0" indent="0" marL="0">
              <a:buNone/>
            </a:pPr>
            <a:r>
              <a:rPr/>
              <a:t>STUDENT ID:</a:t>
            </a:r>
          </a:p>
          <a:p>
            <a:pPr lvl="0" indent="0" marL="0">
              <a:buNone/>
            </a:pPr>
            <a:r>
              <a:rPr/>
              <a:t>Remember to also initial in the upper right-hand header of each page.</a:t>
            </a:r>
          </a:p>
          <a:p>
            <a:pPr lvl="0" indent="0" marL="0">
              <a:buNone/>
            </a:pPr>
            <a:r>
              <a:rPr b="1"/>
              <a:t>Due Wed. Sept. 16th by the end of class.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64498"/>
            <a:ext cx="3008313" cy="364292"/>
          </a:xfrm>
          <a:prstGeom prst="rect">
            <a:avLst/>
          </a:prstGeom>
        </p:spPr>
        <p:txBody>
          <a:bodyPr/>
          <a:lstStyle/>
          <a:p>
            <a:pPr lvl="0" indent="0" marL="0">
              <a:buNone/>
            </a:pPr>
            <a:r>
              <a:rPr/>
              <a:t>Portfolio 1: Programming Syntax and Semantics</a:t>
            </a:r>
          </a:p>
        </p:txBody>
      </p:sp>
      <p:sp>
        <p:nvSpPr>
          <p:cNvPr id="4" name="Text Placeholder 3"/>
          <p:cNvSpPr>
            <a:spLocks noGrp="1"/>
          </p:cNvSpPr>
          <p:nvPr>
            <p:ph idx="2" sz="half" type="body"/>
          </p:nvPr>
        </p:nvSpPr>
        <p:spPr/>
        <p:txBody>
          <a:bodyPr/>
          <a:lstStyle/>
          <a:p>
            <a:pPr lvl="0" indent="0" marL="0">
              <a:buNone/>
            </a:pPr>
            <a:r>
              <a:rPr/>
              <a:t>To succeed in these problems you will need to read and engage with the embedded activities in the following </a:t>
            </a:r>
            <a:r>
              <a:rPr b="1"/>
              <a:t>Runestone texbook chapters</a:t>
            </a:r>
            <a:r>
              <a:rPr/>
              <a:t> (worth 0.5 of a grade percentage point):</a:t>
            </a:r>
          </a:p>
          <a:p>
            <a:pPr lvl="0"/>
            <a:r>
              <a:rPr/>
              <a:t>Ch. 1: Introduction</a:t>
            </a:r>
          </a:p>
          <a:p>
            <a:pPr lvl="0"/>
            <a:r>
              <a:rPr/>
              <a:t>Ch. 2: Variables, Statements and Expressions</a:t>
            </a:r>
          </a:p>
          <a:p>
            <a:pPr lvl="0" indent="0" marL="0">
              <a:buNone/>
            </a:pPr>
            <a:r>
              <a:rPr i="1"/>
              <a:t>For completing and self-correcting 70% of the below activities (during in-class share-outs), you will earn 1 grade percentage point</a:t>
            </a:r>
            <a:r>
              <a:rPr/>
              <a:t>. For participating in a </a:t>
            </a:r>
            <a:r>
              <a:rPr i="1"/>
              <a:t>share-out of 1 of the activities, you will earn 0.5 of a grade percentage point</a:t>
            </a:r>
            <a:r>
              <a:rPr/>
              <a:t>.</a:t>
            </a:r>
          </a:p>
          <a:p>
            <a:pPr lvl="0" indent="0" marL="0">
              <a:buNone/>
            </a:pPr>
            <a:r>
              <a:rPr/>
              <a:t>Note that some activities we will plan to start in class and others you need to start on your own (“oyo”). You should finish each activity before its in-class share-out in order to correct it before final submission. Note the intended schedule below but keep in mind that the schedule is always subject to change.</a:t>
            </a:r>
          </a:p>
          <a:p>
            <a:pPr lvl="0" indent="0" marL="0">
              <a:buNone/>
            </a:pPr>
            <a:r>
              <a:rPr/>
              <a:t>Remember to print and attach your programs for the coding activities. Programs should be submitted to gradescope for autograder results, but credit is given to programs printed and included in this portfolio, on completetion, regaurdless of autograder results. Programs should be marked up for corrections during in-class share-outs.</a:t>
            </a:r>
          </a:p>
          <a:p>
            <a:pPr lvl="0" indent="0" marL="0">
              <a:spcBef>
                <a:spcPts val="3000"/>
              </a:spcBef>
              <a:buNone/>
            </a:pPr>
            <a:r>
              <a:rPr b="1"/>
              <a:t>Table of Contents</a:t>
            </a:r>
          </a:p>
          <a:p>
            <a:pPr lvl="0" indent="0" marL="0">
              <a:buNone/>
            </a:pPr>
            <a:r>
              <a:rPr/>
              <a:t>This portfolio includes the following 10 activities and the report of your weekly share-out:</a:t>
            </a:r>
          </a:p>
        </p:txBody>
      </p:sp>
      <p:graphicFrame>
        <p:nvGraphicFramePr>
          <p:cNvPr id="6" name="Content Placeholder 5"/>
          <p:cNvGraphicFramePr>
            <a:graphicFrameLocks noGrp="1"/>
          </p:cNvGraphicFramePr>
          <p:nvPr>
            <p:ph idx="1"/>
          </p:nvPr>
        </p:nvGraphicFramePr>
        <p:xfrm>
          <a:off x="3568700" y="1727200"/>
          <a:ext cx="5105400" cy="2844800"/>
        </p:xfrm>
        <a:graphic>
          <a:graphicData uri="http://schemas.openxmlformats.org/drawingml/2006/table">
            <a:tbl>
              <a:tblPr firstRow="1" bandRow="1">
                <a:tableStyleId>{5C22544A-7EE6-4342-B048-85BDC9FD1C3A}</a:tableStyleId>
              </a:tblPr>
              <a:tblGrid>
                <a:gridCol w="177800"/>
                <a:gridCol w="2120900"/>
                <a:gridCol w="228600"/>
                <a:gridCol w="508000"/>
                <a:gridCol w="736600"/>
                <a:gridCol w="1333500"/>
              </a:tblGrid>
              <a:tr h="0">
                <a:tc>
                  <a:txBody>
                    <a:bodyPr/>
                    <a:lstStyle/>
                    <a:p>
                      <a:pPr lvl="0" indent="0" marL="0">
                        <a:buNone/>
                      </a:pPr>
                      <a:r>
                        <a:rPr/>
                        <a:t>Part</a:t>
                      </a:r>
                    </a:p>
                  </a:txBody>
                  <a:tcPr/>
                </a:tc>
                <a:tc>
                  <a:txBody>
                    <a:bodyPr/>
                    <a:lstStyle/>
                    <a:p>
                      <a:pPr lvl="0" indent="0" marL="0">
                        <a:buNone/>
                      </a:pPr>
                      <a:r>
                        <a:rPr/>
                        <a:t>Problem/Task</a:t>
                      </a:r>
                    </a:p>
                  </a:txBody>
                  <a:tcPr/>
                </a:tc>
                <a:tc>
                  <a:txBody>
                    <a:bodyPr/>
                    <a:lstStyle/>
                    <a:p>
                      <a:pPr lvl="0" indent="0" marL="0">
                        <a:buNone/>
                      </a:pPr>
                      <a:r>
                        <a:rPr/>
                        <a:t>Page</a:t>
                      </a:r>
                    </a:p>
                  </a:txBody>
                  <a:tcPr/>
                </a:tc>
                <a:tc>
                  <a:txBody>
                    <a:bodyPr/>
                    <a:lstStyle/>
                    <a:p>
                      <a:pPr lvl="0" indent="0" marL="0">
                        <a:buNone/>
                      </a:pPr>
                      <a:r>
                        <a:rPr/>
                        <a:t>In-class Start</a:t>
                      </a:r>
                    </a:p>
                  </a:txBody>
                  <a:tcPr/>
                </a:tc>
                <a:tc>
                  <a:txBody>
                    <a:bodyPr/>
                    <a:lstStyle/>
                    <a:p>
                      <a:pPr lvl="0" indent="0" marL="0">
                        <a:buNone/>
                      </a:pPr>
                      <a:r>
                        <a:rPr/>
                        <a:t>In-class Share-out</a:t>
                      </a:r>
                    </a:p>
                  </a:txBody>
                  <a:tcPr/>
                </a:tc>
                <a:tc>
                  <a:txBody>
                    <a:bodyPr/>
                    <a:lstStyle/>
                    <a:p>
                      <a:pPr lvl="0" indent="0" marL="0">
                        <a:buNone/>
                      </a:pPr>
                      <a:r>
                        <a:rPr/>
                        <a:t>Submission Format</a:t>
                      </a:r>
                    </a:p>
                  </a:txBody>
                  <a:tcPr/>
                </a:tc>
              </a:tr>
              <a:tr h="0">
                <a:tc>
                  <a:txBody>
                    <a:bodyPr/>
                    <a:lstStyle/>
                    <a:p>
                      <a:pPr lvl="0" indent="0" marL="0">
                        <a:buNone/>
                      </a:pPr>
                      <a:r>
                        <a:rPr/>
                        <a:t>A1</a:t>
                      </a:r>
                    </a:p>
                  </a:txBody>
                </a:tc>
                <a:tc>
                  <a:txBody>
                    <a:bodyPr/>
                    <a:lstStyle/>
                    <a:p>
                      <a:pPr lvl="0" indent="0" marL="0">
                        <a:buNone/>
                      </a:pPr>
                      <a:r>
                        <a:rPr/>
                        <a:t>Written prompt: think?</a:t>
                      </a:r>
                    </a:p>
                  </a:txBody>
                </a:tc>
                <a:tc>
                  <a:txBody>
                    <a:bodyPr/>
                    <a:lstStyle/>
                    <a:p>
                      <a:pPr lvl="0" indent="0" marL="0">
                        <a:buNone/>
                      </a:pPr>
                      <a:r>
                        <a:rPr/>
                        <a:t>2</a:t>
                      </a:r>
                    </a:p>
                  </a:txBody>
                </a:tc>
                <a:tc>
                  <a:txBody>
                    <a:bodyPr/>
                    <a:lstStyle/>
                    <a:p>
                      <a:pPr lvl="0" indent="0" marL="0">
                        <a:buNone/>
                      </a:pPr>
                      <a:r>
                        <a:rPr/>
                        <a:t>W 9/9</a:t>
                      </a:r>
                    </a:p>
                  </a:txBody>
                </a:tc>
                <a:tc>
                  <a:txBody>
                    <a:bodyPr/>
                    <a:lstStyle/>
                    <a:p>
                      <a:pPr lvl="0" indent="0" marL="0">
                        <a:buNone/>
                      </a:pPr>
                      <a:r>
                        <a:rPr/>
                        <a:t>W 9/9</a:t>
                      </a:r>
                    </a:p>
                  </a:txBody>
                </a:tc>
                <a:tc>
                  <a:txBody>
                    <a:bodyPr/>
                    <a:lstStyle/>
                    <a:p>
                      <a:pPr lvl="0" indent="0" marL="0">
                        <a:buNone/>
                      </a:pPr>
                      <a:r>
                        <a:rPr/>
                        <a:t>Hand-written</a:t>
                      </a:r>
                    </a:p>
                  </a:txBody>
                </a:tc>
              </a:tr>
              <a:tr h="0">
                <a:tc>
                  <a:txBody>
                    <a:bodyPr/>
                    <a:lstStyle/>
                    <a:p>
                      <a:pPr lvl="0" indent="0" marL="0">
                        <a:buNone/>
                      </a:pPr>
                      <a:r>
                        <a:rPr/>
                        <a:t>A2</a:t>
                      </a:r>
                    </a:p>
                  </a:txBody>
                </a:tc>
                <a:tc>
                  <a:txBody>
                    <a:bodyPr/>
                    <a:lstStyle/>
                    <a:p>
                      <a:pPr lvl="0" indent="0" marL="0">
                        <a:buNone/>
                      </a:pPr>
                      <a:r>
                        <a:rPr/>
                        <a:t>Written programs for human turtles</a:t>
                      </a:r>
                    </a:p>
                  </a:txBody>
                </a:tc>
                <a:tc>
                  <a:txBody>
                    <a:bodyPr/>
                    <a:lstStyle/>
                    <a:p>
                      <a:pPr lvl="0" indent="0" marL="0">
                        <a:buNone/>
                      </a:pPr>
                      <a:r>
                        <a:rPr/>
                        <a:t>3</a:t>
                      </a:r>
                    </a:p>
                  </a:txBody>
                </a:tc>
                <a:tc>
                  <a:txBody>
                    <a:bodyPr/>
                    <a:lstStyle/>
                    <a:p>
                      <a:pPr lvl="0" indent="0" marL="0">
                        <a:buNone/>
                      </a:pPr>
                      <a:r>
                        <a:rPr/>
                        <a:t>W 9/9</a:t>
                      </a:r>
                    </a:p>
                  </a:txBody>
                </a:tc>
                <a:tc>
                  <a:txBody>
                    <a:bodyPr/>
                    <a:lstStyle/>
                    <a:p>
                      <a:pPr lvl="0" indent="0" marL="0">
                        <a:buNone/>
                      </a:pPr>
                      <a:r>
                        <a:rPr/>
                        <a:t>W 9/9</a:t>
                      </a:r>
                    </a:p>
                  </a:txBody>
                </a:tc>
                <a:tc>
                  <a:txBody>
                    <a:bodyPr/>
                    <a:lstStyle/>
                    <a:p>
                      <a:pPr lvl="0" indent="0" marL="0">
                        <a:buNone/>
                      </a:pPr>
                      <a:r>
                        <a:rPr/>
                        <a:t>Hand-written</a:t>
                      </a:r>
                    </a:p>
                  </a:txBody>
                </a:tc>
              </a:tr>
              <a:tr h="0">
                <a:tc>
                  <a:txBody>
                    <a:bodyPr/>
                    <a:lstStyle/>
                    <a:p>
                      <a:pPr lvl="0" indent="0" marL="0">
                        <a:buNone/>
                      </a:pPr>
                      <a:r>
                        <a:rPr/>
                        <a:t>A3</a:t>
                      </a:r>
                    </a:p>
                  </a:txBody>
                </a:tc>
                <a:tc>
                  <a:txBody>
                    <a:bodyPr/>
                    <a:lstStyle/>
                    <a:p>
                      <a:pPr lvl="0" indent="0" marL="0">
                        <a:buNone/>
                      </a:pPr>
                      <a:r>
                        <a:rPr/>
                        <a:t>Written questions - computer basics</a:t>
                      </a:r>
                    </a:p>
                  </a:txBody>
                </a:tc>
                <a:tc>
                  <a:txBody>
                    <a:bodyPr/>
                    <a:lstStyle/>
                    <a:p>
                      <a:pPr lvl="0" indent="0" marL="0">
                        <a:buNone/>
                      </a:pPr>
                      <a:r>
                        <a:rPr/>
                        <a:t>5</a:t>
                      </a:r>
                    </a:p>
                  </a:txBody>
                </a:tc>
                <a:tc>
                  <a:txBody>
                    <a:bodyPr/>
                    <a:lstStyle/>
                    <a:p>
                      <a:pPr lvl="0" indent="0" marL="0">
                        <a:buNone/>
                      </a:pPr>
                      <a:r>
                        <a:rPr/>
                        <a:t>Th 9/10</a:t>
                      </a:r>
                    </a:p>
                  </a:txBody>
                </a:tc>
                <a:tc>
                  <a:txBody>
                    <a:bodyPr/>
                    <a:lstStyle/>
                    <a:p>
                      <a:pPr lvl="0" indent="0" marL="0">
                        <a:buNone/>
                      </a:pPr>
                      <a:r>
                        <a:rPr/>
                        <a:t>Th 9/10</a:t>
                      </a:r>
                    </a:p>
                  </a:txBody>
                </a:tc>
                <a:tc>
                  <a:txBody>
                    <a:bodyPr/>
                    <a:lstStyle/>
                    <a:p>
                      <a:pPr lvl="0" indent="0" marL="0">
                        <a:buNone/>
                      </a:pPr>
                      <a:r>
                        <a:rPr/>
                        <a:t>Hand-written</a:t>
                      </a:r>
                    </a:p>
                  </a:txBody>
                </a:tc>
              </a:tr>
              <a:tr h="0">
                <a:tc>
                  <a:txBody>
                    <a:bodyPr/>
                    <a:lstStyle/>
                    <a:p>
                      <a:pPr lvl="0" indent="0" marL="0">
                        <a:buNone/>
                      </a:pPr>
                      <a:r>
                        <a:rPr/>
                        <a:t>A4</a:t>
                      </a:r>
                    </a:p>
                  </a:txBody>
                </a:tc>
                <a:tc>
                  <a:txBody>
                    <a:bodyPr/>
                    <a:lstStyle/>
                    <a:p>
                      <a:pPr lvl="0" indent="0" marL="0">
                        <a:buNone/>
                      </a:pPr>
                      <a:r>
                        <a:rPr/>
                        <a:t>Prog. with Reeborg (patterns)</a:t>
                      </a:r>
                    </a:p>
                  </a:txBody>
                </a:tc>
                <a:tc>
                  <a:txBody>
                    <a:bodyPr/>
                    <a:lstStyle/>
                    <a:p>
                      <a:pPr lvl="0" indent="0" marL="0">
                        <a:buNone/>
                      </a:pPr>
                      <a:r>
                        <a:rPr/>
                        <a:t>7</a:t>
                      </a:r>
                    </a:p>
                  </a:txBody>
                </a:tc>
                <a:tc>
                  <a:txBody>
                    <a:bodyPr/>
                    <a:lstStyle/>
                    <a:p>
                      <a:pPr lvl="0" indent="0" marL="0">
                        <a:buNone/>
                      </a:pPr>
                      <a:r>
                        <a:rPr/>
                        <a:t>Th 9/10</a:t>
                      </a:r>
                    </a:p>
                  </a:txBody>
                </a:tc>
                <a:tc>
                  <a:txBody>
                    <a:bodyPr/>
                    <a:lstStyle/>
                    <a:p>
                      <a:pPr lvl="0" indent="0" marL="0">
                        <a:buNone/>
                      </a:pPr>
                      <a:r>
                        <a:rPr/>
                        <a:t>Th 9/10</a:t>
                      </a:r>
                    </a:p>
                  </a:txBody>
                </a:tc>
                <a:tc>
                  <a:txBody>
                    <a:bodyPr/>
                    <a:lstStyle/>
                    <a:p>
                      <a:pPr lvl="0" indent="0" marL="0">
                        <a:buNone/>
                      </a:pPr>
                      <a:r>
                        <a:rPr/>
                        <a:t>Printed</a:t>
                      </a:r>
                    </a:p>
                  </a:txBody>
                </a:tc>
              </a:tr>
              <a:tr h="0">
                <a:tc>
                  <a:txBody>
                    <a:bodyPr/>
                    <a:lstStyle/>
                    <a:p>
                      <a:pPr lvl="0" indent="0" marL="0">
                        <a:buNone/>
                      </a:pPr>
                      <a:r>
                        <a:rPr/>
                        <a:t>A5</a:t>
                      </a:r>
                    </a:p>
                  </a:txBody>
                </a:tc>
                <a:tc>
                  <a:txBody>
                    <a:bodyPr/>
                    <a:lstStyle/>
                    <a:p>
                      <a:pPr lvl="0" indent="0" marL="0">
                        <a:buNone/>
                      </a:pPr>
                      <a:r>
                        <a:rPr/>
                        <a:t>Prog. with Reeborg (newspaper)</a:t>
                      </a:r>
                    </a:p>
                  </a:txBody>
                </a:tc>
                <a:tc>
                  <a:txBody>
                    <a:bodyPr/>
                    <a:lstStyle/>
                    <a:p>
                      <a:pPr lvl="0" indent="0" marL="0">
                        <a:buNone/>
                      </a:pPr>
                      <a:r>
                        <a:rPr/>
                        <a:t>9</a:t>
                      </a:r>
                    </a:p>
                  </a:txBody>
                </a:tc>
                <a:tc>
                  <a:txBody>
                    <a:bodyPr/>
                    <a:lstStyle/>
                    <a:p>
                      <a:pPr lvl="0" indent="0" marL="0">
                        <a:buNone/>
                      </a:pPr>
                      <a:r>
                        <a:rPr/>
                        <a:t>Th 9/10</a:t>
                      </a:r>
                    </a:p>
                  </a:txBody>
                </a:tc>
                <a:tc>
                  <a:txBody>
                    <a:bodyPr/>
                    <a:lstStyle/>
                    <a:p>
                      <a:pPr lvl="0" indent="0" marL="0">
                        <a:buNone/>
                      </a:pPr>
                      <a:r>
                        <a:rPr/>
                        <a:t>F 9/11</a:t>
                      </a:r>
                    </a:p>
                  </a:txBody>
                </a:tc>
                <a:tc>
                  <a:txBody>
                    <a:bodyPr/>
                    <a:lstStyle/>
                    <a:p>
                      <a:pPr lvl="0" indent="0" marL="0">
                        <a:buNone/>
                      </a:pPr>
                      <a:r>
                        <a:rPr/>
                        <a:t>Gradescope &amp; printed</a:t>
                      </a:r>
                    </a:p>
                  </a:txBody>
                </a:tc>
              </a:tr>
              <a:tr h="0">
                <a:tc>
                  <a:txBody>
                    <a:bodyPr/>
                    <a:lstStyle/>
                    <a:p>
                      <a:pPr lvl="0" indent="0" marL="0">
                        <a:buNone/>
                      </a:pPr>
                      <a:r>
                        <a:rPr/>
                        <a:t>A6</a:t>
                      </a:r>
                    </a:p>
                  </a:txBody>
                </a:tc>
                <a:tc>
                  <a:txBody>
                    <a:bodyPr/>
                    <a:lstStyle/>
                    <a:p>
                      <a:pPr lvl="0" indent="0" marL="0">
                        <a:buNone/>
                      </a:pPr>
                      <a:r>
                        <a:rPr/>
                        <a:t>Questions - syntax, semantics, prompt</a:t>
                      </a:r>
                    </a:p>
                  </a:txBody>
                </a:tc>
                <a:tc>
                  <a:txBody>
                    <a:bodyPr/>
                    <a:lstStyle/>
                    <a:p>
                      <a:pPr lvl="0" indent="0" marL="0">
                        <a:buNone/>
                      </a:pPr>
                      <a:r>
                        <a:rPr/>
                        <a:t>11</a:t>
                      </a:r>
                    </a:p>
                  </a:txBody>
                </a:tc>
                <a:tc>
                  <a:txBody>
                    <a:bodyPr/>
                    <a:lstStyle/>
                    <a:p>
                      <a:pPr lvl="0" indent="0" marL="0">
                        <a:buNone/>
                      </a:pPr>
                      <a:r>
                        <a:rPr/>
                        <a:t>F 9/11</a:t>
                      </a:r>
                    </a:p>
                  </a:txBody>
                </a:tc>
                <a:tc>
                  <a:txBody>
                    <a:bodyPr/>
                    <a:lstStyle/>
                    <a:p>
                      <a:pPr lvl="0" indent="0" marL="0">
                        <a:buNone/>
                      </a:pPr>
                      <a:r>
                        <a:rPr/>
                        <a:t>M 9/14</a:t>
                      </a:r>
                    </a:p>
                  </a:txBody>
                </a:tc>
                <a:tc>
                  <a:txBody>
                    <a:bodyPr/>
                    <a:lstStyle/>
                    <a:p>
                      <a:pPr lvl="0" indent="0" marL="0">
                        <a:buNone/>
                      </a:pPr>
                      <a:r>
                        <a:rPr/>
                        <a:t>Hand-written</a:t>
                      </a:r>
                    </a:p>
                  </a:txBody>
                </a:tc>
              </a:tr>
              <a:tr h="0">
                <a:tc>
                  <a:txBody>
                    <a:bodyPr/>
                    <a:lstStyle/>
                    <a:p>
                      <a:pPr lvl="0" indent="0" marL="0">
                        <a:buNone/>
                      </a:pPr>
                      <a:r>
                        <a:rPr/>
                        <a:t>A7</a:t>
                      </a:r>
                    </a:p>
                  </a:txBody>
                </a:tc>
                <a:tc>
                  <a:txBody>
                    <a:bodyPr/>
                    <a:lstStyle/>
                    <a:p>
                      <a:pPr lvl="0" indent="0" marL="0">
                        <a:buNone/>
                      </a:pPr>
                      <a:r>
                        <a:rPr/>
                        <a:t>Tracing Re-assignment</a:t>
                      </a:r>
                    </a:p>
                  </a:txBody>
                </a:tc>
                <a:tc>
                  <a:txBody>
                    <a:bodyPr/>
                    <a:lstStyle/>
                    <a:p>
                      <a:pPr lvl="0" indent="0" marL="0">
                        <a:buNone/>
                      </a:pPr>
                      <a:r>
                        <a:rPr/>
                        <a:t>13</a:t>
                      </a:r>
                    </a:p>
                  </a:txBody>
                </a:tc>
                <a:tc>
                  <a:txBody>
                    <a:bodyPr/>
                    <a:lstStyle/>
                    <a:p>
                      <a:pPr lvl="0" indent="0" marL="0">
                        <a:buNone/>
                      </a:pPr>
                      <a:r>
                        <a:rPr/>
                        <a:t>oyo</a:t>
                      </a:r>
                    </a:p>
                  </a:txBody>
                </a:tc>
                <a:tc>
                  <a:txBody>
                    <a:bodyPr/>
                    <a:lstStyle/>
                    <a:p>
                      <a:pPr lvl="0" indent="0" marL="0">
                        <a:buNone/>
                      </a:pPr>
                      <a:r>
                        <a:rPr/>
                        <a:t>M 9/14</a:t>
                      </a:r>
                    </a:p>
                  </a:txBody>
                </a:tc>
                <a:tc>
                  <a:txBody>
                    <a:bodyPr/>
                    <a:lstStyle/>
                    <a:p>
                      <a:pPr lvl="0" indent="0" marL="0">
                        <a:buNone/>
                      </a:pPr>
                      <a:r>
                        <a:rPr/>
                        <a:t>Hand-written</a:t>
                      </a:r>
                    </a:p>
                  </a:txBody>
                </a:tc>
              </a:tr>
              <a:tr h="0">
                <a:tc>
                  <a:txBody>
                    <a:bodyPr/>
                    <a:lstStyle/>
                    <a:p>
                      <a:pPr lvl="0" indent="0" marL="0">
                        <a:buNone/>
                      </a:pPr>
                      <a:r>
                        <a:rPr/>
                        <a:t>A8</a:t>
                      </a:r>
                    </a:p>
                  </a:txBody>
                </a:tc>
                <a:tc>
                  <a:txBody>
                    <a:bodyPr/>
                    <a:lstStyle/>
                    <a:p>
                      <a:pPr lvl="0" indent="0" marL="0">
                        <a:buNone/>
                      </a:pPr>
                      <a:r>
                        <a:rPr/>
                        <a:t>Prog. Arithmetic, reciept</a:t>
                      </a:r>
                    </a:p>
                  </a:txBody>
                </a:tc>
                <a:tc>
                  <a:txBody>
                    <a:bodyPr/>
                    <a:lstStyle/>
                    <a:p>
                      <a:pPr lvl="0" indent="0" marL="0">
                        <a:buNone/>
                      </a:pPr>
                      <a:r>
                        <a:rPr/>
                        <a:t>15</a:t>
                      </a:r>
                    </a:p>
                  </a:txBody>
                </a:tc>
                <a:tc>
                  <a:txBody>
                    <a:bodyPr/>
                    <a:lstStyle/>
                    <a:p>
                      <a:pPr lvl="0" indent="0" marL="0">
                        <a:buNone/>
                      </a:pPr>
                      <a:r>
                        <a:rPr/>
                        <a:t>M 9/14</a:t>
                      </a:r>
                    </a:p>
                  </a:txBody>
                </a:tc>
                <a:tc>
                  <a:txBody>
                    <a:bodyPr/>
                    <a:lstStyle/>
                    <a:p>
                      <a:pPr lvl="0" indent="0" marL="0">
                        <a:buNone/>
                      </a:pPr>
                      <a:r>
                        <a:rPr/>
                        <a:t>W 9/16</a:t>
                      </a:r>
                    </a:p>
                  </a:txBody>
                </a:tc>
                <a:tc>
                  <a:txBody>
                    <a:bodyPr/>
                    <a:lstStyle/>
                    <a:p>
                      <a:pPr lvl="0" indent="0" marL="0">
                        <a:buNone/>
                      </a:pPr>
                      <a:r>
                        <a:rPr/>
                        <a:t>Gradescope &amp; printed</a:t>
                      </a:r>
                    </a:p>
                  </a:txBody>
                </a:tc>
              </a:tr>
              <a:tr h="0">
                <a:tc>
                  <a:txBody>
                    <a:bodyPr/>
                    <a:lstStyle/>
                    <a:p>
                      <a:pPr lvl="0" indent="0" marL="0">
                        <a:buNone/>
                      </a:pPr>
                      <a:r>
                        <a:rPr/>
                        <a:t>A9</a:t>
                      </a:r>
                    </a:p>
                  </a:txBody>
                </a:tc>
                <a:tc>
                  <a:txBody>
                    <a:bodyPr/>
                    <a:lstStyle/>
                    <a:p>
                      <a:pPr lvl="0" indent="0" marL="0">
                        <a:buNone/>
                      </a:pPr>
                      <a:r>
                        <a:rPr/>
                        <a:t>Prog. Reeborg (winding sandbar)</a:t>
                      </a:r>
                    </a:p>
                  </a:txBody>
                </a:tc>
                <a:tc>
                  <a:txBody>
                    <a:bodyPr/>
                    <a:lstStyle/>
                    <a:p>
                      <a:pPr lvl="0" indent="0" marL="0">
                        <a:buNone/>
                      </a:pPr>
                      <a:r>
                        <a:rPr/>
                        <a:t>17</a:t>
                      </a:r>
                    </a:p>
                  </a:txBody>
                </a:tc>
                <a:tc>
                  <a:txBody>
                    <a:bodyPr/>
                    <a:lstStyle/>
                    <a:p>
                      <a:pPr lvl="0" indent="0" marL="0">
                        <a:buNone/>
                      </a:pPr>
                      <a:r>
                        <a:rPr/>
                        <a:t>oyo</a:t>
                      </a:r>
                    </a:p>
                  </a:txBody>
                </a:tc>
                <a:tc>
                  <a:txBody>
                    <a:bodyPr/>
                    <a:lstStyle/>
                    <a:p>
                      <a:pPr lvl="0" indent="0" marL="0">
                        <a:buNone/>
                      </a:pPr>
                      <a:r>
                        <a:rPr/>
                        <a:t>W 9/16</a:t>
                      </a:r>
                    </a:p>
                  </a:txBody>
                </a:tc>
                <a:tc>
                  <a:txBody>
                    <a:bodyPr/>
                    <a:lstStyle/>
                    <a:p>
                      <a:pPr lvl="0" indent="0" marL="0">
                        <a:buNone/>
                      </a:pPr>
                      <a:r>
                        <a:rPr/>
                        <a:t>Gradescope &amp; printed</a:t>
                      </a:r>
                    </a:p>
                  </a:txBody>
                </a:tc>
              </a:tr>
              <a:tr h="0">
                <a:tc>
                  <a:txBody>
                    <a:bodyPr/>
                    <a:lstStyle/>
                    <a:p>
                      <a:pPr lvl="0" indent="0" marL="0">
                        <a:buNone/>
                      </a:pPr>
                      <a:r>
                        <a:rPr/>
                        <a:t>A10</a:t>
                      </a:r>
                    </a:p>
                  </a:txBody>
                </a:tc>
                <a:tc>
                  <a:txBody>
                    <a:bodyPr/>
                    <a:lstStyle/>
                    <a:p>
                      <a:pPr lvl="0" indent="0" marL="0">
                        <a:buNone/>
                      </a:pPr>
                      <a:r>
                        <a:rPr/>
                        <a:t>Prog. with Turtle (squares)</a:t>
                      </a:r>
                    </a:p>
                  </a:txBody>
                </a:tc>
                <a:tc>
                  <a:txBody>
                    <a:bodyPr/>
                    <a:lstStyle/>
                    <a:p>
                      <a:pPr lvl="0" indent="0" marL="0">
                        <a:buNone/>
                      </a:pPr>
                      <a:r>
                        <a:rPr/>
                        <a:t>19</a:t>
                      </a:r>
                    </a:p>
                  </a:txBody>
                </a:tc>
                <a:tc>
                  <a:txBody>
                    <a:bodyPr/>
                    <a:lstStyle/>
                    <a:p>
                      <a:pPr lvl="0" indent="0" marL="0">
                        <a:buNone/>
                      </a:pPr>
                      <a:r>
                        <a:rPr/>
                        <a:t>oyo</a:t>
                      </a:r>
                    </a:p>
                  </a:txBody>
                </a:tc>
                <a:tc>
                  <a:txBody>
                    <a:bodyPr/>
                    <a:lstStyle/>
                    <a:p>
                      <a:pPr lvl="0" indent="0" marL="0">
                        <a:buNone/>
                      </a:pPr>
                      <a:r>
                        <a:rPr/>
                        <a:t>W 9/16</a:t>
                      </a:r>
                    </a:p>
                  </a:txBody>
                </a:tc>
                <a:tc>
                  <a:txBody>
                    <a:bodyPr/>
                    <a:lstStyle/>
                    <a:p>
                      <a:pPr lvl="0" indent="0" marL="0">
                        <a:buNone/>
                      </a:pPr>
                      <a:r>
                        <a:rPr/>
                        <a:t>Gradescope &amp; printed</a:t>
                      </a:r>
                    </a:p>
                  </a:txBody>
                </a:tc>
              </a:tr>
              <a:tr h="0">
                <a:tc>
                  <a:txBody>
                    <a:bodyPr/>
                    <a:lstStyle/>
                    <a:p>
                      <a:pPr lvl="0" indent="0" marL="0">
                        <a:buNone/>
                      </a:pPr>
                      <a:r>
                        <a:rPr/>
                        <a:t>B1</a:t>
                      </a:r>
                    </a:p>
                  </a:txBody>
                </a:tc>
                <a:tc>
                  <a:txBody>
                    <a:bodyPr/>
                    <a:lstStyle/>
                    <a:p>
                      <a:pPr lvl="0" indent="0" marL="0">
                        <a:buNone/>
                      </a:pPr>
                      <a:r>
                        <a:rPr/>
                        <a:t>Share-out report</a:t>
                      </a:r>
                    </a:p>
                  </a:txBody>
                </a:tc>
                <a:tc>
                  <a:txBody>
                    <a:bodyPr/>
                    <a:lstStyle/>
                    <a:p>
                      <a:pPr lvl="0" indent="0" marL="0">
                        <a:buNone/>
                      </a:pPr>
                      <a:r>
                        <a:rPr/>
                        <a:t>21</a:t>
                      </a:r>
                    </a:p>
                  </a:txBody>
                </a:tc>
                <a:tc>
                  <a:txBody>
                    <a:bodyPr/>
                    <a:lstStyle/>
                    <a:p>
                      <a:pPr lvl="0" indent="0" marL="0">
                        <a:buNone/>
                      </a:pPr>
                      <a:r>
                        <a:rPr/>
                        <a:t>oyo</a:t>
                      </a:r>
                    </a:p>
                  </a:txBody>
                </a:tc>
                <a:tc>
                  <a:txBody>
                    <a:bodyPr/>
                    <a:lstStyle/>
                    <a:p>
                      <a:endParaRPr/>
                    </a:p>
                  </a:txBody>
                </a:tc>
                <a:tc>
                  <a:txBody>
                    <a:bodyPr/>
                    <a:lstStyle/>
                    <a:p>
                      <a:pPr lvl="0" indent="0" marL="0">
                        <a:buNone/>
                      </a:pPr>
                      <a:r>
                        <a:rPr/>
                        <a:t>Hand-written</a:t>
                      </a:r>
                    </a:p>
                  </a:txBody>
                </a:tc>
              </a:tr>
            </a:tbl>
          </a:graphicData>
        </a:graphic>
      </p:graphicFrame>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83297"/>
            <a:ext cx="8229600" cy="857250"/>
          </a:xfrm>
          <a:prstGeom prst="rect">
            <a:avLst/>
          </a:prstGeom>
        </p:spPr>
        <p:txBody>
          <a:bodyPr/>
          <a:lstStyle/>
          <a:p>
            <a:pPr lvl="0" indent="0" marL="0">
              <a:buNone/>
            </a:pPr>
            <a:r>
              <a:rPr/>
              <a:t>A1) Prompt: Can computers think? Why or why not? What does it mean, to “think”?</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83297"/>
            <a:ext cx="8229600" cy="857250"/>
          </a:xfrm>
          <a:prstGeom prst="rect">
            <a:avLst/>
          </a:prstGeom>
        </p:spPr>
        <p:txBody>
          <a:bodyPr/>
          <a:lstStyle/>
          <a:p>
            <a:pPr lvl="0" indent="0" marL="0">
              <a:buNone/>
            </a:pPr>
            <a:r>
              <a:rPr/>
              <a:t>A2) Programs for Human Turtles</a:t>
            </a:r>
          </a:p>
        </p:txBody>
      </p:sp>
      <p:sp>
        <p:nvSpPr>
          <p:cNvPr id="3" name="Content Placeholder 2"/>
          <p:cNvSpPr>
            <a:spLocks noGrp="1"/>
          </p:cNvSpPr>
          <p:nvPr>
            <p:ph idx="1"/>
          </p:nvPr>
        </p:nvSpPr>
        <p:spPr/>
        <p:txBody>
          <a:bodyPr/>
          <a:lstStyle/>
          <a:p>
            <a:pPr lvl="0" indent="-342900" marL="342900">
              <a:buAutoNum type="arabicPeriod"/>
            </a:pPr>
            <a:r>
              <a:rPr/>
              <a:t>Fold this sheet into thirds &amp; turn it over.</a:t>
            </a:r>
          </a:p>
          <a:p>
            <a:pPr lvl="0" indent="-342900" marL="342900">
              <a:buAutoNum type="arabicPeriod"/>
            </a:pPr>
            <a:r>
              <a:rPr/>
              <a:t>On the back top third, draw something that could have been drawn by the Turtle robot.</a:t>
            </a:r>
          </a:p>
          <a:p>
            <a:pPr lvl="0" indent="-342900" marL="342900">
              <a:buAutoNum type="arabicPeriod"/>
            </a:pPr>
            <a:r>
              <a:rPr/>
              <a:t>On the front, in the top two thirds, write instructions (in English) for the robot to create this drawing.</a:t>
            </a:r>
          </a:p>
          <a:p>
            <a:pPr lvl="0" indent="-342900" marL="342900">
              <a:buAutoNum type="arabicPeriod"/>
            </a:pPr>
            <a:r>
              <a:rPr/>
              <a:t>Swap your instructions with someone who didn’t see your drawing.</a:t>
            </a:r>
          </a:p>
          <a:p>
            <a:pPr lvl="0" indent="-342900" marL="342900">
              <a:buAutoNum type="arabicPeriod"/>
            </a:pPr>
            <a:r>
              <a:rPr b="1"/>
              <a:t>Without looking at the drawing on the back</a:t>
            </a:r>
            <a:r>
              <a:rPr/>
              <a:t> draw a picture following the instructions.</a:t>
            </a:r>
          </a:p>
          <a:p>
            <a:pPr lvl="0" indent="-342900" marL="342900">
              <a:buAutoNum type="arabicPeriod"/>
            </a:pPr>
            <a:r>
              <a:rPr/>
              <a:t>Fold down the top third and see - how closely does your drawing match the original?</a:t>
            </a:r>
          </a:p>
          <a:p>
            <a:pPr lvl="0" indent="0" marL="0">
              <a:buNone/>
            </a:pPr>
            <a:r>
              <a:rPr/>
              <a:t>……………………………………………………………………………………………………………………</a:t>
            </a:r>
          </a:p>
          <a:p>
            <a:pPr lvl="0" indent="0" marL="0">
              <a:buNone/>
            </a:pPr>
            <a:r>
              <a:rPr/>
              <a:t>instructions:</a:t>
            </a:r>
          </a:p>
          <a:p>
            <a:pPr lvl="0" indent="0" marL="0">
              <a:buNone/>
            </a:pPr>
            <a:r>
              <a:rPr/>
              <a:t>…………………………………………………………………………………………………………………… leave blank for drawing:</a:t>
            </a:r>
          </a:p>
          <a:p>
            <a:pPr lvl="0" indent="0" marL="0">
              <a:buNone/>
            </a:pPr>
            <a:r>
              <a:rPr/>
              <a:t>……</a:t>
            </a:r>
          </a:p>
          <a:p>
            <a:pPr lvl="0" indent="0" marL="0">
              <a:buNone/>
            </a:pP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83297"/>
            <a:ext cx="8229600" cy="857250"/>
          </a:xfrm>
          <a:prstGeom prst="rect">
            <a:avLst/>
          </a:prstGeom>
        </p:spPr>
        <p:txBody>
          <a:bodyPr/>
          <a:lstStyle/>
          <a:p>
            <a:pPr lvl="0" indent="0" marL="0">
              <a:buNone/>
            </a:pPr>
            <a:r>
              <a:rPr/>
              <a:t>A3) Computers, Algorithms and Programs</a:t>
            </a:r>
          </a:p>
        </p:txBody>
      </p:sp>
      <p:sp>
        <p:nvSpPr>
          <p:cNvPr id="3" name="Content Placeholder 2"/>
          <p:cNvSpPr>
            <a:spLocks noGrp="1"/>
          </p:cNvSpPr>
          <p:nvPr>
            <p:ph idx="1"/>
          </p:nvPr>
        </p:nvSpPr>
        <p:spPr/>
        <p:txBody>
          <a:bodyPr/>
          <a:lstStyle/>
          <a:p>
            <a:pPr lvl="0"/>
            <a:r>
              <a:rPr/>
              <a:t>Take a look at </a:t>
            </a:r>
            <a:r>
              <a:rPr b="1"/>
              <a:t>Runestone Chapters 1 &amp; 2</a:t>
            </a:r>
            <a:r>
              <a:rPr/>
              <a:t> … feel free to look at it while answering these questions and during today’s discussion</a:t>
            </a:r>
          </a:p>
          <a:p>
            <a:pPr lvl="0" indent="-342900" marL="342900">
              <a:buAutoNum startAt="0" type="arabicPeriod"/>
            </a:pPr>
            <a:r>
              <a:rPr/>
              <a:t>Name some parts of a computer.</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startAt="0" type="arabicPeriod"/>
            </a:pPr>
            <a:r>
              <a:rPr/>
              <a:t>Where are the programs you write stored when the computer is powered off? Why?</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startAt="0" type="arabicPeriod"/>
            </a:pPr>
            <a:r>
              <a:rPr/>
              <a:t>Where are the programs currently running on a computer stored? Why?</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startAt="0" type="arabicPeriod"/>
            </a:pPr>
            <a:r>
              <a:rPr/>
              <a:t>What is a reserved word in Python? Name a few.</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startAt="0" type="arabicPeriod"/>
            </a:pPr>
            <a:r>
              <a:rPr/>
              <a:t>How would you describe the difference between an interpreted programming language and a compiled programming language?</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startAt="0" type="arabicPeriod"/>
            </a:pPr>
            <a:r>
              <a:rPr/>
              <a:t>Describe some pros and cons of interpreted and compiled programming languages.</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startAt="0" type="arabicPeriod"/>
            </a:pPr>
            <a:r>
              <a:rPr/>
              <a:t>Can more than one algorithm be used to solve a problem? Why or why not?</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startAt="0" type="arabicPeriod"/>
            </a:pPr>
            <a:r>
              <a:rPr/>
              <a:t>Can an algorithm be written in more than one programming language? Why or why not?</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startAt="0" type="arabicPeriod"/>
            </a:pPr>
            <a:r>
              <a:rPr/>
              <a:t>What is a function? Why might functions be useful?</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startAt="0" type="arabicPeriod"/>
            </a:pPr>
            <a:r>
              <a:rPr/>
              <a:t>What is a parameter?</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startAt="0" type="arabicPeriod"/>
            </a:pPr>
            <a:r>
              <a:rPr/>
              <a:t>What is an argument?</a:t>
            </a:r>
          </a:p>
          <a:p>
            <a:pPr lvl="1" indent="0" marL="342900">
              <a:buNone/>
            </a:pPr>
            <a:r>
              <a:rPr/>
              <a:t>………………………………………………………………………………………………</a:t>
            </a:r>
          </a:p>
          <a:p>
            <a:pPr lvl="1" indent="0" marL="342900">
              <a:buNone/>
            </a:pPr>
            <a:r>
              <a:rPr/>
              <a:t>………………………………………………………………………………………………</a:t>
            </a:r>
          </a:p>
          <a:p>
            <a:pPr lvl="1" indent="0" marL="342900">
              <a:buNone/>
            </a:pPr>
            <a:r>
              <a:rPr/>
              <a:t>………………………………………………………………………………………………</a:t>
            </a:r>
          </a:p>
          <a:p>
            <a:pPr lvl="1" indent="0" marL="342900">
              <a:buNone/>
            </a:pP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3">
                                            <p:txEl>
                                              <p:pRg st="21" end="21"/>
                                            </p:txEl>
                                          </p:spTgt>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3">
                                            <p:txEl>
                                              <p:pRg st="22" end="22"/>
                                            </p:txEl>
                                          </p:spTgt>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3">
                                            <p:txEl>
                                              <p:pRg st="23" end="23"/>
                                            </p:txEl>
                                          </p:spTgt>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3">
                                            <p:txEl>
                                              <p:pRg st="24" end="24"/>
                                            </p:txEl>
                                          </p:spTgt>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grpId="0" nodeType="clickEffect">
                                  <p:stCondLst>
                                    <p:cond delay="0"/>
                                  </p:stCondLst>
                                  <p:childTnLst>
                                    <p:set>
                                      <p:cBhvr>
                                        <p:cTn id="106" dur="1" fill="hold">
                                          <p:stCondLst>
                                            <p:cond delay="0"/>
                                          </p:stCondLst>
                                        </p:cTn>
                                        <p:tgtEl>
                                          <p:spTgt spid="3">
                                            <p:txEl>
                                              <p:pRg st="25" end="25"/>
                                            </p:txEl>
                                          </p:spTgt>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grpId="0" nodeType="clickEffect">
                                  <p:stCondLst>
                                    <p:cond delay="0"/>
                                  </p:stCondLst>
                                  <p:childTnLst>
                                    <p:set>
                                      <p:cBhvr>
                                        <p:cTn id="110" dur="1" fill="hold">
                                          <p:stCondLst>
                                            <p:cond delay="0"/>
                                          </p:stCondLst>
                                        </p:cTn>
                                        <p:tgtEl>
                                          <p:spTgt spid="3">
                                            <p:txEl>
                                              <p:pRg st="26" end="26"/>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3">
                                            <p:txEl>
                                              <p:pRg st="27" end="27"/>
                                            </p:txEl>
                                          </p:spTgt>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
                                            <p:txEl>
                                              <p:pRg st="28" end="28"/>
                                            </p:txEl>
                                          </p:spTgt>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0" nodeType="clickEffect">
                                  <p:stCondLst>
                                    <p:cond delay="0"/>
                                  </p:stCondLst>
                                  <p:childTnLst>
                                    <p:set>
                                      <p:cBhvr>
                                        <p:cTn id="122" dur="1" fill="hold">
                                          <p:stCondLst>
                                            <p:cond delay="0"/>
                                          </p:stCondLst>
                                        </p:cTn>
                                        <p:tgtEl>
                                          <p:spTgt spid="3">
                                            <p:txEl>
                                              <p:pRg st="29" end="29"/>
                                            </p:txEl>
                                          </p:spTgt>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grpId="0" nodeType="clickEffect">
                                  <p:stCondLst>
                                    <p:cond delay="0"/>
                                  </p:stCondLst>
                                  <p:childTnLst>
                                    <p:set>
                                      <p:cBhvr>
                                        <p:cTn id="126" dur="1" fill="hold">
                                          <p:stCondLst>
                                            <p:cond delay="0"/>
                                          </p:stCondLst>
                                        </p:cTn>
                                        <p:tgtEl>
                                          <p:spTgt spid="3">
                                            <p:txEl>
                                              <p:pRg st="30" end="30"/>
                                            </p:txEl>
                                          </p:spTgt>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ntr" presetSubtype="0" fill="hold" grpId="0" nodeType="clickEffect">
                                  <p:stCondLst>
                                    <p:cond delay="0"/>
                                  </p:stCondLst>
                                  <p:childTnLst>
                                    <p:set>
                                      <p:cBhvr>
                                        <p:cTn id="130" dur="1" fill="hold">
                                          <p:stCondLst>
                                            <p:cond delay="0"/>
                                          </p:stCondLst>
                                        </p:cTn>
                                        <p:tgtEl>
                                          <p:spTgt spid="3">
                                            <p:txEl>
                                              <p:pRg st="31" end="31"/>
                                            </p:txEl>
                                          </p:spTgt>
                                        </p:tgtEl>
                                        <p:attrNameLst>
                                          <p:attrName>style.visibility</p:attrName>
                                        </p:attrNameLst>
                                      </p:cBhvr>
                                      <p:to>
                                        <p:strVal val="visible"/>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grpId="0" nodeType="clickEffect">
                                  <p:stCondLst>
                                    <p:cond delay="0"/>
                                  </p:stCondLst>
                                  <p:childTnLst>
                                    <p:set>
                                      <p:cBhvr>
                                        <p:cTn id="134" dur="1" fill="hold">
                                          <p:stCondLst>
                                            <p:cond delay="0"/>
                                          </p:stCondLst>
                                        </p:cTn>
                                        <p:tgtEl>
                                          <p:spTgt spid="3">
                                            <p:txEl>
                                              <p:pRg st="32" end="32"/>
                                            </p:txEl>
                                          </p:spTgt>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ntr" presetSubtype="0" fill="hold" grpId="0" nodeType="clickEffect">
                                  <p:stCondLst>
                                    <p:cond delay="0"/>
                                  </p:stCondLst>
                                  <p:childTnLst>
                                    <p:set>
                                      <p:cBhvr>
                                        <p:cTn id="138" dur="1" fill="hold">
                                          <p:stCondLst>
                                            <p:cond delay="0"/>
                                          </p:stCondLst>
                                        </p:cTn>
                                        <p:tgtEl>
                                          <p:spTgt spid="3">
                                            <p:txEl>
                                              <p:pRg st="33" end="33"/>
                                            </p:txEl>
                                          </p:spTgt>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3">
                                            <p:txEl>
                                              <p:pRg st="34" end="34"/>
                                            </p:txEl>
                                          </p:spTgt>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1" presetClass="entr" presetSubtype="0" fill="hold" grpId="0" nodeType="clickEffect">
                                  <p:stCondLst>
                                    <p:cond delay="0"/>
                                  </p:stCondLst>
                                  <p:childTnLst>
                                    <p:set>
                                      <p:cBhvr>
                                        <p:cTn id="146" dur="1" fill="hold">
                                          <p:stCondLst>
                                            <p:cond delay="0"/>
                                          </p:stCondLst>
                                        </p:cTn>
                                        <p:tgtEl>
                                          <p:spTgt spid="3">
                                            <p:txEl>
                                              <p:pRg st="35" end="35"/>
                                            </p:txEl>
                                          </p:spTgt>
                                        </p:tgtEl>
                                        <p:attrNameLst>
                                          <p:attrName>style.visibility</p:attrName>
                                        </p:attrNameLst>
                                      </p:cBhvr>
                                      <p:to>
                                        <p:strVal val="visible"/>
                                      </p:to>
                                    </p:set>
                                  </p:childTnLst>
                                </p:cTn>
                              </p:par>
                            </p:childTnLst>
                          </p:cTn>
                        </p:par>
                      </p:childTnLst>
                    </p:cTn>
                  </p:par>
                  <p:par>
                    <p:cTn id="147" fill="hold">
                      <p:stCondLst>
                        <p:cond delay="indefinite"/>
                      </p:stCondLst>
                      <p:childTnLst>
                        <p:par>
                          <p:cTn id="148" fill="hold">
                            <p:stCondLst>
                              <p:cond delay="0"/>
                            </p:stCondLst>
                            <p:childTnLst>
                              <p:par>
                                <p:cTn id="149" presetID="1" presetClass="entr" presetSubtype="0" fill="hold" grpId="0" nodeType="clickEffect">
                                  <p:stCondLst>
                                    <p:cond delay="0"/>
                                  </p:stCondLst>
                                  <p:childTnLst>
                                    <p:set>
                                      <p:cBhvr>
                                        <p:cTn id="150" dur="1" fill="hold">
                                          <p:stCondLst>
                                            <p:cond delay="0"/>
                                          </p:stCondLst>
                                        </p:cTn>
                                        <p:tgtEl>
                                          <p:spTgt spid="3">
                                            <p:txEl>
                                              <p:pRg st="36" end="36"/>
                                            </p:txEl>
                                          </p:spTgt>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3">
                                            <p:txEl>
                                              <p:pRg st="37" end="37"/>
                                            </p:txEl>
                                          </p:spTgt>
                                        </p:tgtEl>
                                        <p:attrNameLst>
                                          <p:attrName>style.visibility</p:attrName>
                                        </p:attrNameLst>
                                      </p:cBhvr>
                                      <p:to>
                                        <p:strVal val="visible"/>
                                      </p:to>
                                    </p:set>
                                  </p:childTnLst>
                                </p:cTn>
                              </p:par>
                            </p:childTnLst>
                          </p:cTn>
                        </p:par>
                      </p:childTnLst>
                    </p:cTn>
                  </p:par>
                  <p:par>
                    <p:cTn id="155" fill="hold">
                      <p:stCondLst>
                        <p:cond delay="indefinite"/>
                      </p:stCondLst>
                      <p:childTnLst>
                        <p:par>
                          <p:cTn id="156" fill="hold">
                            <p:stCondLst>
                              <p:cond delay="0"/>
                            </p:stCondLst>
                            <p:childTnLst>
                              <p:par>
                                <p:cTn id="157" presetID="1" presetClass="entr" presetSubtype="0" fill="hold" grpId="0" nodeType="clickEffect">
                                  <p:stCondLst>
                                    <p:cond delay="0"/>
                                  </p:stCondLst>
                                  <p:childTnLst>
                                    <p:set>
                                      <p:cBhvr>
                                        <p:cTn id="158" dur="1" fill="hold">
                                          <p:stCondLst>
                                            <p:cond delay="0"/>
                                          </p:stCondLst>
                                        </p:cTn>
                                        <p:tgtEl>
                                          <p:spTgt spid="3">
                                            <p:txEl>
                                              <p:pRg st="38" end="38"/>
                                            </p:txEl>
                                          </p:spTgt>
                                        </p:tgtEl>
                                        <p:attrNameLst>
                                          <p:attrName>style.visibility</p:attrName>
                                        </p:attrNameLst>
                                      </p:cBhvr>
                                      <p:to>
                                        <p:strVal val="visible"/>
                                      </p:to>
                                    </p:set>
                                  </p:childTnLst>
                                </p:cTn>
                              </p:par>
                            </p:childTnLst>
                          </p:cTn>
                        </p:par>
                      </p:childTnLst>
                    </p:cTn>
                  </p:par>
                  <p:par>
                    <p:cTn id="159" fill="hold">
                      <p:stCondLst>
                        <p:cond delay="indefinite"/>
                      </p:stCondLst>
                      <p:childTnLst>
                        <p:par>
                          <p:cTn id="160" fill="hold">
                            <p:stCondLst>
                              <p:cond delay="0"/>
                            </p:stCondLst>
                            <p:childTnLst>
                              <p:par>
                                <p:cTn id="161" presetID="1" presetClass="entr" presetSubtype="0" fill="hold" grpId="0" nodeType="clickEffect">
                                  <p:stCondLst>
                                    <p:cond delay="0"/>
                                  </p:stCondLst>
                                  <p:childTnLst>
                                    <p:set>
                                      <p:cBhvr>
                                        <p:cTn id="162" dur="1" fill="hold">
                                          <p:stCondLst>
                                            <p:cond delay="0"/>
                                          </p:stCondLst>
                                        </p:cTn>
                                        <p:tgtEl>
                                          <p:spTgt spid="3">
                                            <p:txEl>
                                              <p:pRg st="39" end="39"/>
                                            </p:txEl>
                                          </p:spTgt>
                                        </p:tgtEl>
                                        <p:attrNameLst>
                                          <p:attrName>style.visibility</p:attrName>
                                        </p:attrNameLst>
                                      </p:cBhvr>
                                      <p:to>
                                        <p:strVal val="visible"/>
                                      </p:to>
                                    </p:set>
                                  </p:childTnLst>
                                </p:cTn>
                              </p:par>
                            </p:childTnLst>
                          </p:cTn>
                        </p:par>
                      </p:childTnLst>
                    </p:cTn>
                  </p:par>
                  <p:par>
                    <p:cTn id="163" fill="hold">
                      <p:stCondLst>
                        <p:cond delay="indefinite"/>
                      </p:stCondLst>
                      <p:childTnLst>
                        <p:par>
                          <p:cTn id="164" fill="hold">
                            <p:stCondLst>
                              <p:cond delay="0"/>
                            </p:stCondLst>
                            <p:childTnLst>
                              <p:par>
                                <p:cTn id="165" presetID="1" presetClass="entr" presetSubtype="0" fill="hold" grpId="0" nodeType="clickEffect">
                                  <p:stCondLst>
                                    <p:cond delay="0"/>
                                  </p:stCondLst>
                                  <p:childTnLst>
                                    <p:set>
                                      <p:cBhvr>
                                        <p:cTn id="166" dur="1" fill="hold">
                                          <p:stCondLst>
                                            <p:cond delay="0"/>
                                          </p:stCondLst>
                                        </p:cTn>
                                        <p:tgtEl>
                                          <p:spTgt spid="3">
                                            <p:txEl>
                                              <p:pRg st="40" end="40"/>
                                            </p:txEl>
                                          </p:spTgt>
                                        </p:tgtEl>
                                        <p:attrNameLst>
                                          <p:attrName>style.visibility</p:attrName>
                                        </p:attrNameLst>
                                      </p:cBhvr>
                                      <p:to>
                                        <p:strVal val="visible"/>
                                      </p:to>
                                    </p:set>
                                  </p:childTnLst>
                                </p:cTn>
                              </p:par>
                            </p:childTnLst>
                          </p:cTn>
                        </p:par>
                      </p:childTnLst>
                    </p:cTn>
                  </p:par>
                  <p:par>
                    <p:cTn id="167" fill="hold">
                      <p:stCondLst>
                        <p:cond delay="indefinite"/>
                      </p:stCondLst>
                      <p:childTnLst>
                        <p:par>
                          <p:cTn id="168" fill="hold">
                            <p:stCondLst>
                              <p:cond delay="0"/>
                            </p:stCondLst>
                            <p:childTnLst>
                              <p:par>
                                <p:cTn id="169" presetID="1" presetClass="entr" presetSubtype="0" fill="hold" grpId="0" nodeType="clickEffect">
                                  <p:stCondLst>
                                    <p:cond delay="0"/>
                                  </p:stCondLst>
                                  <p:childTnLst>
                                    <p:set>
                                      <p:cBhvr>
                                        <p:cTn id="170" dur="1" fill="hold">
                                          <p:stCondLst>
                                            <p:cond delay="0"/>
                                          </p:stCondLst>
                                        </p:cTn>
                                        <p:tgtEl>
                                          <p:spTgt spid="3">
                                            <p:txEl>
                                              <p:pRg st="41" end="41"/>
                                            </p:txEl>
                                          </p:spTgt>
                                        </p:tgtEl>
                                        <p:attrNameLst>
                                          <p:attrName>style.visibility</p:attrName>
                                        </p:attrNameLst>
                                      </p:cBhvr>
                                      <p:to>
                                        <p:strVal val="visible"/>
                                      </p:to>
                                    </p:set>
                                  </p:childTnLst>
                                </p:cTn>
                              </p:par>
                            </p:childTnLst>
                          </p:cTn>
                        </p:par>
                      </p:childTnLst>
                    </p:cTn>
                  </p:par>
                  <p:par>
                    <p:cTn id="171" fill="hold">
                      <p:stCondLst>
                        <p:cond delay="indefinite"/>
                      </p:stCondLst>
                      <p:childTnLst>
                        <p:par>
                          <p:cTn id="172" fill="hold">
                            <p:stCondLst>
                              <p:cond delay="0"/>
                            </p:stCondLst>
                            <p:childTnLst>
                              <p:par>
                                <p:cTn id="173" presetID="1" presetClass="entr" presetSubtype="0" fill="hold" grpId="0" nodeType="clickEffect">
                                  <p:stCondLst>
                                    <p:cond delay="0"/>
                                  </p:stCondLst>
                                  <p:childTnLst>
                                    <p:set>
                                      <p:cBhvr>
                                        <p:cTn id="174" dur="1" fill="hold">
                                          <p:stCondLst>
                                            <p:cond delay="0"/>
                                          </p:stCondLst>
                                        </p:cTn>
                                        <p:tgtEl>
                                          <p:spTgt spid="3">
                                            <p:txEl>
                                              <p:pRg st="42" end="42"/>
                                            </p:txEl>
                                          </p:spTgt>
                                        </p:tgtEl>
                                        <p:attrNameLst>
                                          <p:attrName>style.visibility</p:attrName>
                                        </p:attrNameLst>
                                      </p:cBhvr>
                                      <p:to>
                                        <p:strVal val="visible"/>
                                      </p:to>
                                    </p:set>
                                  </p:childTnLst>
                                </p:cTn>
                              </p:par>
                            </p:childTnLst>
                          </p:cTn>
                        </p:par>
                      </p:childTnLst>
                    </p:cTn>
                  </p:par>
                  <p:par>
                    <p:cTn id="175" fill="hold">
                      <p:stCondLst>
                        <p:cond delay="indefinite"/>
                      </p:stCondLst>
                      <p:childTnLst>
                        <p:par>
                          <p:cTn id="176" fill="hold">
                            <p:stCondLst>
                              <p:cond delay="0"/>
                            </p:stCondLst>
                            <p:childTnLst>
                              <p:par>
                                <p:cTn id="177" presetID="1" presetClass="entr" presetSubtype="0" fill="hold" grpId="0" nodeType="clickEffect">
                                  <p:stCondLst>
                                    <p:cond delay="0"/>
                                  </p:stCondLst>
                                  <p:childTnLst>
                                    <p:set>
                                      <p:cBhvr>
                                        <p:cTn id="178" dur="1" fill="hold">
                                          <p:stCondLst>
                                            <p:cond delay="0"/>
                                          </p:stCondLst>
                                        </p:cTn>
                                        <p:tgtEl>
                                          <p:spTgt spid="3">
                                            <p:txEl>
                                              <p:pRg st="43" end="43"/>
                                            </p:txEl>
                                          </p:spTgt>
                                        </p:tgtEl>
                                        <p:attrNameLst>
                                          <p:attrName>style.visibility</p:attrName>
                                        </p:attrNameLst>
                                      </p:cBhvr>
                                      <p:to>
                                        <p:strVal val="visible"/>
                                      </p:to>
                                    </p:set>
                                  </p:childTnLst>
                                </p:cTn>
                              </p:par>
                            </p:childTnLst>
                          </p:cTn>
                        </p:par>
                      </p:childTnLst>
                    </p:cTn>
                  </p:par>
                  <p:par>
                    <p:cTn id="179" fill="hold">
                      <p:stCondLst>
                        <p:cond delay="indefinite"/>
                      </p:stCondLst>
                      <p:childTnLst>
                        <p:par>
                          <p:cTn id="180" fill="hold">
                            <p:stCondLst>
                              <p:cond delay="0"/>
                            </p:stCondLst>
                            <p:childTnLst>
                              <p:par>
                                <p:cTn id="181" presetID="1" presetClass="entr" presetSubtype="0" fill="hold" grpId="0" nodeType="clickEffect">
                                  <p:stCondLst>
                                    <p:cond delay="0"/>
                                  </p:stCondLst>
                                  <p:childTnLst>
                                    <p:set>
                                      <p:cBhvr>
                                        <p:cTn id="182" dur="1" fill="hold">
                                          <p:stCondLst>
                                            <p:cond delay="0"/>
                                          </p:stCondLst>
                                        </p:cTn>
                                        <p:tgtEl>
                                          <p:spTgt spid="3">
                                            <p:txEl>
                                              <p:pRg st="44" end="44"/>
                                            </p:txEl>
                                          </p:spTgt>
                                        </p:tgtEl>
                                        <p:attrNameLst>
                                          <p:attrName>style.visibility</p:attrName>
                                        </p:attrNameLst>
                                      </p:cBhvr>
                                      <p:to>
                                        <p:strVal val="visible"/>
                                      </p:to>
                                    </p:set>
                                  </p:childTnLst>
                                </p:cTn>
                              </p:par>
                            </p:childTnLst>
                          </p:cTn>
                        </p:par>
                      </p:childTnLst>
                    </p:cTn>
                  </p:par>
                  <p:par>
                    <p:cTn id="183" fill="hold">
                      <p:stCondLst>
                        <p:cond delay="indefinite"/>
                      </p:stCondLst>
                      <p:childTnLst>
                        <p:par>
                          <p:cTn id="184" fill="hold">
                            <p:stCondLst>
                              <p:cond delay="0"/>
                            </p:stCondLst>
                            <p:childTnLst>
                              <p:par>
                                <p:cTn id="185" presetID="1" presetClass="entr" presetSubtype="0" fill="hold" grpId="0" nodeType="clickEffect">
                                  <p:stCondLst>
                                    <p:cond delay="0"/>
                                  </p:stCondLst>
                                  <p:childTnLst>
                                    <p:set>
                                      <p:cBhvr>
                                        <p:cTn id="186" dur="1" fill="hold">
                                          <p:stCondLst>
                                            <p:cond delay="0"/>
                                          </p:stCondLst>
                                        </p:cTn>
                                        <p:tgtEl>
                                          <p:spTgt spid="3">
                                            <p:txEl>
                                              <p:pRg st="45" end="45"/>
                                            </p:txEl>
                                          </p:spTgt>
                                        </p:tgtEl>
                                        <p:attrNameLst>
                                          <p:attrName>style.visibility</p:attrName>
                                        </p:attrNameLst>
                                      </p:cBhvr>
                                      <p:to>
                                        <p:strVal val="visible"/>
                                      </p:to>
                                    </p:set>
                                  </p:childTnLst>
                                </p:cTn>
                              </p:par>
                            </p:childTnLst>
                          </p:cTn>
                        </p:par>
                      </p:childTnLst>
                    </p:cTn>
                  </p:par>
                  <p:par>
                    <p:cTn id="187" fill="hold">
                      <p:stCondLst>
                        <p:cond delay="indefinite"/>
                      </p:stCondLst>
                      <p:childTnLst>
                        <p:par>
                          <p:cTn id="188" fill="hold">
                            <p:stCondLst>
                              <p:cond delay="0"/>
                            </p:stCondLst>
                            <p:childTnLst>
                              <p:par>
                                <p:cTn id="189" presetID="1" presetClass="entr" presetSubtype="0" fill="hold" grpId="0" nodeType="clickEffect">
                                  <p:stCondLst>
                                    <p:cond delay="0"/>
                                  </p:stCondLst>
                                  <p:childTnLst>
                                    <p:set>
                                      <p:cBhvr>
                                        <p:cTn id="190" dur="1" fill="hold">
                                          <p:stCondLst>
                                            <p:cond delay="0"/>
                                          </p:stCondLst>
                                        </p:cTn>
                                        <p:tgtEl>
                                          <p:spTgt spid="3">
                                            <p:txEl>
                                              <p:pRg st="46" end="46"/>
                                            </p:txEl>
                                          </p:spTgt>
                                        </p:tgtEl>
                                        <p:attrNameLst>
                                          <p:attrName>style.visibility</p:attrName>
                                        </p:attrNameLst>
                                      </p:cBhvr>
                                      <p:to>
                                        <p:strVal val="visible"/>
                                      </p:to>
                                    </p:set>
                                  </p:childTnLst>
                                </p:cTn>
                              </p:par>
                            </p:childTnLst>
                          </p:cTn>
                        </p:par>
                      </p:childTnLst>
                    </p:cTn>
                  </p:par>
                  <p:par>
                    <p:cTn id="191" fill="hold">
                      <p:stCondLst>
                        <p:cond delay="indefinite"/>
                      </p:stCondLst>
                      <p:childTnLst>
                        <p:par>
                          <p:cTn id="192" fill="hold">
                            <p:stCondLst>
                              <p:cond delay="0"/>
                            </p:stCondLst>
                            <p:childTnLst>
                              <p:par>
                                <p:cTn id="193" presetID="1" presetClass="entr" presetSubtype="0" fill="hold" grpId="0" nodeType="clickEffect">
                                  <p:stCondLst>
                                    <p:cond delay="0"/>
                                  </p:stCondLst>
                                  <p:childTnLst>
                                    <p:set>
                                      <p:cBhvr>
                                        <p:cTn id="194" dur="1" fill="hold">
                                          <p:stCondLst>
                                            <p:cond delay="0"/>
                                          </p:stCondLst>
                                        </p:cTn>
                                        <p:tgtEl>
                                          <p:spTgt spid="3">
                                            <p:txEl>
                                              <p:pRg st="47" end="47"/>
                                            </p:txEl>
                                          </p:spTgt>
                                        </p:tgtEl>
                                        <p:attrNameLst>
                                          <p:attrName>style.visibility</p:attrName>
                                        </p:attrNameLst>
                                      </p:cBhvr>
                                      <p:to>
                                        <p:strVal val="visible"/>
                                      </p:to>
                                    </p:set>
                                  </p:childTnLst>
                                </p:cTn>
                              </p:par>
                            </p:childTnLst>
                          </p:cTn>
                        </p:par>
                      </p:childTnLst>
                    </p:cTn>
                  </p:par>
                  <p:par>
                    <p:cTn id="195" fill="hold">
                      <p:stCondLst>
                        <p:cond delay="indefinite"/>
                      </p:stCondLst>
                      <p:childTnLst>
                        <p:par>
                          <p:cTn id="196" fill="hold">
                            <p:stCondLst>
                              <p:cond delay="0"/>
                            </p:stCondLst>
                            <p:childTnLst>
                              <p:par>
                                <p:cTn id="197" presetID="1" presetClass="entr" presetSubtype="0" fill="hold" grpId="0" nodeType="clickEffect">
                                  <p:stCondLst>
                                    <p:cond delay="0"/>
                                  </p:stCondLst>
                                  <p:childTnLst>
                                    <p:set>
                                      <p:cBhvr>
                                        <p:cTn id="198" dur="1" fill="hold">
                                          <p:stCondLst>
                                            <p:cond delay="0"/>
                                          </p:stCondLst>
                                        </p:cTn>
                                        <p:tgtEl>
                                          <p:spTgt spid="3">
                                            <p:txEl>
                                              <p:pRg st="48" end="48"/>
                                            </p:txEl>
                                          </p:spTgt>
                                        </p:tgtEl>
                                        <p:attrNameLst>
                                          <p:attrName>style.visibility</p:attrName>
                                        </p:attrNameLst>
                                      </p:cBhvr>
                                      <p:to>
                                        <p:strVal val="visible"/>
                                      </p:to>
                                    </p:set>
                                  </p:childTnLst>
                                </p:cTn>
                              </p:par>
                            </p:childTnLst>
                          </p:cTn>
                        </p:par>
                      </p:childTnLst>
                    </p:cTn>
                  </p:par>
                  <p:par>
                    <p:cTn id="199" fill="hold">
                      <p:stCondLst>
                        <p:cond delay="indefinite"/>
                      </p:stCondLst>
                      <p:childTnLst>
                        <p:par>
                          <p:cTn id="200" fill="hold">
                            <p:stCondLst>
                              <p:cond delay="0"/>
                            </p:stCondLst>
                            <p:childTnLst>
                              <p:par>
                                <p:cTn id="201" presetID="1" presetClass="entr" presetSubtype="0" fill="hold" grpId="0" nodeType="clickEffect">
                                  <p:stCondLst>
                                    <p:cond delay="0"/>
                                  </p:stCondLst>
                                  <p:childTnLst>
                                    <p:set>
                                      <p:cBhvr>
                                        <p:cTn id="202" dur="1" fill="hold">
                                          <p:stCondLst>
                                            <p:cond delay="0"/>
                                          </p:stCondLst>
                                        </p:cTn>
                                        <p:tgtEl>
                                          <p:spTgt spid="3">
                                            <p:txEl>
                                              <p:pRg st="49" end="49"/>
                                            </p:txEl>
                                          </p:spTgt>
                                        </p:tgtEl>
                                        <p:attrNameLst>
                                          <p:attrName>style.visibility</p:attrName>
                                        </p:attrNameLst>
                                      </p:cBhvr>
                                      <p:to>
                                        <p:strVal val="visible"/>
                                      </p:to>
                                    </p:set>
                                  </p:childTnLst>
                                </p:cTn>
                              </p:par>
                            </p:childTnLst>
                          </p:cTn>
                        </p:par>
                      </p:childTnLst>
                    </p:cTn>
                  </p:par>
                  <p:par>
                    <p:cTn id="203" fill="hold">
                      <p:stCondLst>
                        <p:cond delay="indefinite"/>
                      </p:stCondLst>
                      <p:childTnLst>
                        <p:par>
                          <p:cTn id="204" fill="hold">
                            <p:stCondLst>
                              <p:cond delay="0"/>
                            </p:stCondLst>
                            <p:childTnLst>
                              <p:par>
                                <p:cTn id="205" presetID="1" presetClass="entr" presetSubtype="0" fill="hold" grpId="0" nodeType="clickEffect">
                                  <p:stCondLst>
                                    <p:cond delay="0"/>
                                  </p:stCondLst>
                                  <p:childTnLst>
                                    <p:set>
                                      <p:cBhvr>
                                        <p:cTn id="206" dur="1" fill="hold">
                                          <p:stCondLst>
                                            <p:cond delay="0"/>
                                          </p:stCondLst>
                                        </p:cTn>
                                        <p:tgtEl>
                                          <p:spTgt spid="3">
                                            <p:txEl>
                                              <p:pRg st="50" end="50"/>
                                            </p:txEl>
                                          </p:spTgt>
                                        </p:tgtEl>
                                        <p:attrNameLst>
                                          <p:attrName>style.visibility</p:attrName>
                                        </p:attrNameLst>
                                      </p:cBhvr>
                                      <p:to>
                                        <p:strVal val="visible"/>
                                      </p:to>
                                    </p:set>
                                  </p:childTnLst>
                                </p:cTn>
                              </p:par>
                            </p:childTnLst>
                          </p:cTn>
                        </p:par>
                      </p:childTnLst>
                    </p:cTn>
                  </p:par>
                  <p:par>
                    <p:cTn id="207" fill="hold">
                      <p:stCondLst>
                        <p:cond delay="indefinite"/>
                      </p:stCondLst>
                      <p:childTnLst>
                        <p:par>
                          <p:cTn id="208" fill="hold">
                            <p:stCondLst>
                              <p:cond delay="0"/>
                            </p:stCondLst>
                            <p:childTnLst>
                              <p:par>
                                <p:cTn id="209" presetID="1" presetClass="entr" presetSubtype="0" fill="hold" grpId="0" nodeType="clickEffect">
                                  <p:stCondLst>
                                    <p:cond delay="0"/>
                                  </p:stCondLst>
                                  <p:childTnLst>
                                    <p:set>
                                      <p:cBhvr>
                                        <p:cTn id="210" dur="1" fill="hold">
                                          <p:stCondLst>
                                            <p:cond delay="0"/>
                                          </p:stCondLst>
                                        </p:cTn>
                                        <p:tgtEl>
                                          <p:spTgt spid="3">
                                            <p:txEl>
                                              <p:pRg st="51" end="51"/>
                                            </p:txEl>
                                          </p:spTgt>
                                        </p:tgtEl>
                                        <p:attrNameLst>
                                          <p:attrName>style.visibility</p:attrName>
                                        </p:attrNameLst>
                                      </p:cBhvr>
                                      <p:to>
                                        <p:strVal val="visible"/>
                                      </p:to>
                                    </p:set>
                                  </p:childTnLst>
                                </p:cTn>
                              </p:par>
                            </p:childTnLst>
                          </p:cTn>
                        </p:par>
                      </p:childTnLst>
                    </p:cTn>
                  </p:par>
                  <p:par>
                    <p:cTn id="211" fill="hold">
                      <p:stCondLst>
                        <p:cond delay="indefinite"/>
                      </p:stCondLst>
                      <p:childTnLst>
                        <p:par>
                          <p:cTn id="212" fill="hold">
                            <p:stCondLst>
                              <p:cond delay="0"/>
                            </p:stCondLst>
                            <p:childTnLst>
                              <p:par>
                                <p:cTn id="213" presetID="1" presetClass="entr" presetSubtype="0" fill="hold" grpId="0" nodeType="clickEffect">
                                  <p:stCondLst>
                                    <p:cond delay="0"/>
                                  </p:stCondLst>
                                  <p:childTnLst>
                                    <p:set>
                                      <p:cBhvr>
                                        <p:cTn id="214" dur="1" fill="hold">
                                          <p:stCondLst>
                                            <p:cond delay="0"/>
                                          </p:stCondLst>
                                        </p:cTn>
                                        <p:tgtEl>
                                          <p:spTgt spid="3">
                                            <p:txEl>
                                              <p:pRg st="52" end="52"/>
                                            </p:txEl>
                                          </p:spTgt>
                                        </p:tgtEl>
                                        <p:attrNameLst>
                                          <p:attrName>style.visibility</p:attrName>
                                        </p:attrNameLst>
                                      </p:cBhvr>
                                      <p:to>
                                        <p:strVal val="visible"/>
                                      </p:to>
                                    </p:set>
                                  </p:childTnLst>
                                </p:cTn>
                              </p:par>
                            </p:childTnLst>
                          </p:cTn>
                        </p:par>
                      </p:childTnLst>
                    </p:cTn>
                  </p:par>
                  <p:par>
                    <p:cTn id="215" fill="hold">
                      <p:stCondLst>
                        <p:cond delay="indefinite"/>
                      </p:stCondLst>
                      <p:childTnLst>
                        <p:par>
                          <p:cTn id="216" fill="hold">
                            <p:stCondLst>
                              <p:cond delay="0"/>
                            </p:stCondLst>
                            <p:childTnLst>
                              <p:par>
                                <p:cTn id="217" presetID="1" presetClass="entr" presetSubtype="0" fill="hold" grpId="0" nodeType="clickEffect">
                                  <p:stCondLst>
                                    <p:cond delay="0"/>
                                  </p:stCondLst>
                                  <p:childTnLst>
                                    <p:set>
                                      <p:cBhvr>
                                        <p:cTn id="218" dur="1" fill="hold">
                                          <p:stCondLst>
                                            <p:cond delay="0"/>
                                          </p:stCondLst>
                                        </p:cTn>
                                        <p:tgtEl>
                                          <p:spTgt spid="3">
                                            <p:txEl>
                                              <p:pRg st="53" end="53"/>
                                            </p:txEl>
                                          </p:spTgt>
                                        </p:tgtEl>
                                        <p:attrNameLst>
                                          <p:attrName>style.visibility</p:attrName>
                                        </p:attrNameLst>
                                      </p:cBhvr>
                                      <p:to>
                                        <p:strVal val="visible"/>
                                      </p:to>
                                    </p:set>
                                  </p:childTnLst>
                                </p:cTn>
                              </p:par>
                            </p:childTnLst>
                          </p:cTn>
                        </p:par>
                      </p:childTnLst>
                    </p:cTn>
                  </p:par>
                  <p:par>
                    <p:cTn id="219" fill="hold">
                      <p:stCondLst>
                        <p:cond delay="indefinite"/>
                      </p:stCondLst>
                      <p:childTnLst>
                        <p:par>
                          <p:cTn id="220" fill="hold">
                            <p:stCondLst>
                              <p:cond delay="0"/>
                            </p:stCondLst>
                            <p:childTnLst>
                              <p:par>
                                <p:cTn id="221" presetID="1" presetClass="entr" presetSubtype="0" fill="hold" grpId="0" nodeType="clickEffect">
                                  <p:stCondLst>
                                    <p:cond delay="0"/>
                                  </p:stCondLst>
                                  <p:childTnLst>
                                    <p:set>
                                      <p:cBhvr>
                                        <p:cTn id="222" dur="1" fill="hold">
                                          <p:stCondLst>
                                            <p:cond delay="0"/>
                                          </p:stCondLst>
                                        </p:cTn>
                                        <p:tgtEl>
                                          <p:spTgt spid="3">
                                            <p:txEl>
                                              <p:pRg st="54" end="54"/>
                                            </p:txEl>
                                          </p:spTgt>
                                        </p:tgtEl>
                                        <p:attrNameLst>
                                          <p:attrName>style.visibility</p:attrName>
                                        </p:attrNameLst>
                                      </p:cBhvr>
                                      <p:to>
                                        <p:strVal val="visible"/>
                                      </p:to>
                                    </p:set>
                                  </p:childTnLst>
                                </p:cTn>
                              </p:par>
                            </p:childTnLst>
                          </p:cTn>
                        </p:par>
                      </p:childTnLst>
                    </p:cTn>
                  </p:par>
                  <p:par>
                    <p:cTn id="223" fill="hold">
                      <p:stCondLst>
                        <p:cond delay="indefinite"/>
                      </p:stCondLst>
                      <p:childTnLst>
                        <p:par>
                          <p:cTn id="224" fill="hold">
                            <p:stCondLst>
                              <p:cond delay="0"/>
                            </p:stCondLst>
                            <p:childTnLst>
                              <p:par>
                                <p:cTn id="225" presetID="1" presetClass="entr" presetSubtype="0" fill="hold" grpId="0" nodeType="clickEffect">
                                  <p:stCondLst>
                                    <p:cond delay="0"/>
                                  </p:stCondLst>
                                  <p:childTnLst>
                                    <p:set>
                                      <p:cBhvr>
                                        <p:cTn id="226" dur="1" fill="hold">
                                          <p:stCondLst>
                                            <p:cond delay="0"/>
                                          </p:stCondLst>
                                        </p:cTn>
                                        <p:tgtEl>
                                          <p:spTgt spid="3">
                                            <p:txEl>
                                              <p:pRg st="55" end="5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83297"/>
            <a:ext cx="8229600" cy="857250"/>
          </a:xfrm>
          <a:prstGeom prst="rect">
            <a:avLst/>
          </a:prstGeom>
        </p:spPr>
        <p:txBody>
          <a:bodyPr/>
          <a:lstStyle/>
          <a:p>
            <a:pPr lvl="0" indent="0" marL="0">
              <a:buNone/>
            </a:pPr>
            <a:r>
              <a:rPr/>
              <a:t>A4) Programs for Robots: Working with Reeborg</a:t>
            </a:r>
          </a:p>
        </p:txBody>
      </p:sp>
      <p:sp>
        <p:nvSpPr>
          <p:cNvPr id="3" name="Content Placeholder 2"/>
          <p:cNvSpPr>
            <a:spLocks noGrp="1"/>
          </p:cNvSpPr>
          <p:nvPr>
            <p:ph idx="1"/>
          </p:nvPr>
        </p:nvSpPr>
        <p:spPr/>
        <p:txBody>
          <a:bodyPr/>
          <a:lstStyle/>
          <a:p>
            <a:pPr lvl="0" indent="0" marL="0">
              <a:spcBef>
                <a:spcPts val="3000"/>
              </a:spcBef>
              <a:buNone/>
            </a:pPr>
            <a:r>
              <a:rPr b="1"/>
              <a:t>Paired Programming Instructions</a:t>
            </a:r>
          </a:p>
          <a:p>
            <a:pPr lvl="0"/>
            <a:r>
              <a:rPr/>
              <a:t>Pair programming is a widely utilized programming method popular in industry and academia for the increase in quality it gives to both process (learning, comprehension, memory) and product (algorithm, program, results).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Paired programming guidelines:</a:t>
            </a:r>
          </a:p>
          <a:p>
            <a:pPr lvl="0"/>
            <a:r>
              <a:rPr/>
              <a:t>Roles:</a:t>
            </a:r>
          </a:p>
          <a:p>
            <a:pPr lvl="1"/>
            <a:r>
              <a:rPr/>
              <a:t>driver: has the keyboard and types</a:t>
            </a:r>
          </a:p>
          <a:p>
            <a:pPr lvl="1"/>
            <a:r>
              <a:rPr/>
              <a:t>navigator: guides the driver</a:t>
            </a:r>
          </a:p>
          <a:p>
            <a:pPr lvl="0"/>
            <a:r>
              <a:rPr/>
              <a:t>Instructions:</a:t>
            </a:r>
          </a:p>
          <a:p>
            <a:pPr lvl="1"/>
            <a:r>
              <a:rPr/>
              <a:t>You should be talking to each other constantly!</a:t>
            </a:r>
          </a:p>
          <a:p>
            <a:pPr lvl="1"/>
            <a:r>
              <a:rPr/>
              <a:t>You should be able to swap roles at any moment.</a:t>
            </a:r>
          </a:p>
          <a:p>
            <a:pPr lvl="1"/>
            <a:r>
              <a:rPr/>
              <a:t>Swap roles every 5 to 10 minutes.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airprogramming.png" id="0" name="Picture 1"/>
          <p:cNvPicPr>
            <a:picLocks noGrp="1" noChangeAspect="1"/>
          </p:cNvPicPr>
          <p:nvPr/>
        </p:nvPicPr>
        <p:blipFill>
          <a:blip r:embed="rId2"/>
          <a:stretch>
            <a:fillRect/>
          </a:stretch>
        </p:blipFill>
        <p:spPr bwMode="auto">
          <a:xfrm>
            <a:off x="2146300" y="1651000"/>
            <a:ext cx="4851400" cy="24257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Pair Programming</a:t>
            </a:r>
          </a:p>
        </p:txBody>
      </p:sp>
      <p:sp>
        <p:nvSpPr>
          <p:cNvPr id="3" name="Content Placeholder 2"/>
          <p:cNvSpPr>
            <a:spLocks noGrp="1"/>
          </p:cNvSpPr>
          <p:nvPr>
            <p:ph idx="1"/>
          </p:nvPr>
        </p:nvSpPr>
        <p:spPr/>
        <p:txBody>
          <a:bodyPr/>
          <a:lstStyle/>
          <a:p>
            <a:pPr lvl="0"/>
            <a:r>
              <a:rPr/>
              <a:t>Note that most programming we do in class will be pair programming. The exceptions will be in-class practical exams where each student will work independently.</a:t>
            </a:r>
          </a:p>
          <a:p>
            <a:pPr lvl="0"/>
            <a:r>
              <a:rPr/>
              <a:t>You will have the opportunity to practice indeipendent programming when finishing up assignments you don’t finish in class, doing on assignments we don’t start in class and doing your projects.</a:t>
            </a:r>
          </a:p>
          <a:p>
            <a:pPr lvl="0" indent="0" marL="0">
              <a:buNone/>
            </a:pPr>
            <a:r>
              <a:rPr/>
              <a:t>From the course website, under Resources, follow the link to Reeborg’s World, or type out the url: </a:t>
            </a:r>
            <a:r>
              <a:rPr>
                <a:hlinkClick r:id="rId3"/>
              </a:rPr>
              <a:t>https://reeborg.ca/reeborg.html</a:t>
            </a:r>
          </a:p>
          <a:p>
            <a:pPr lvl="0" indent="-342900" marL="342900">
              <a:buAutoNum type="arabicPeriod"/>
            </a:pPr>
            <a:r>
              <a:rPr/>
              <a:t>Write programs to make Reeborg walk the following patterns. Save each program in separate files.</a:t>
            </a:r>
          </a:p>
          <a:p>
            <a:pPr lvl="0" indent="-342900" marL="342900">
              <a:buAutoNum startAt="2" type="arabicPeriod"/>
            </a:pPr>
            <a:r>
              <a:rPr/>
              <a:t>In english (not code), what is your algorithm for each pattern?</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0"/>
            <a:r>
              <a:rPr/>
              <a:t>To save, choose “Save program to file” from the “Program in editor” section of the “Additional options” menu.</a:t>
            </a:r>
          </a:p>
          <a:p>
            <a:pPr lvl="0"/>
            <a:r>
              <a:rPr/>
              <a:t>Note: Python programs are saved as text files, but the file names have the extension </a:t>
            </a:r>
            <a:r>
              <a:rPr>
                <a:latin typeface="Courier"/>
              </a:rPr>
              <a:t>.py</a:t>
            </a:r>
          </a:p>
          <a:p>
            <a:pPr lvl="0" indent="-342900" marL="342900">
              <a:buAutoNum startAt="3" type="arabicPeriod"/>
            </a:pPr>
            <a:r>
              <a:rPr/>
              <a:t>Upload each file to your Google drive, or email to yourself, so you can print out these files to submit with your portfolio.</a:t>
            </a:r>
          </a:p>
          <a:p>
            <a:pPr lvl="0" indent="0" marL="0">
              <a:buNone/>
            </a:pPr>
            <a:r>
              <a:rPr b="1"/>
              <a:t>For portfolio submission, insert you printed program pages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
                                            <p:txEl>
                                              <p:pRg st="10" end="1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
                                            <p:txEl>
                                              <p:pRg st="11" end="1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
                                            <p:txEl>
                                              <p:pRg st="12" end="1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
                                            <p:txEl>
                                              <p:pRg st="13" end="13"/>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
                                            <p:txEl>
                                              <p:pRg st="14" end="14"/>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
                                            <p:txEl>
                                              <p:pRg st="15" end="15"/>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
                                            <p:txEl>
                                              <p:pRg st="16" end="16"/>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1">
                                            <p:txEl>
                                              <p:pRg st="17" end="17"/>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1">
                                            <p:txEl>
                                              <p:pRg st="18" end="1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83297"/>
            <a:ext cx="8229600" cy="857250"/>
          </a:xfrm>
          <a:prstGeom prst="rect">
            <a:avLst/>
          </a:prstGeom>
        </p:spPr>
        <p:txBody>
          <a:bodyPr/>
          <a:lstStyle/>
          <a:p>
            <a:pPr lvl="0" indent="0" marL="0">
              <a:buNone/>
            </a:pPr>
            <a:r>
              <a:rPr/>
              <a:t>A5) Programs for Robots: Delivering a newspaper</a:t>
            </a:r>
          </a:p>
        </p:txBody>
      </p:sp>
      <p:pic>
        <p:nvPicPr>
          <p:cNvPr descr="images/newspaper0_world.png" id="0" name="Picture 1"/>
          <p:cNvPicPr>
            <a:picLocks noGrp="1" noChangeAspect="1"/>
          </p:cNvPicPr>
          <p:nvPr/>
        </p:nvPicPr>
        <p:blipFill>
          <a:blip r:embed="rId2"/>
          <a:stretch>
            <a:fillRect/>
          </a:stretch>
        </p:blipFill>
        <p:spPr bwMode="auto">
          <a:xfrm>
            <a:off x="2730500" y="1651000"/>
            <a:ext cx="3683000" cy="24257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Reeborg Newspaper 0</a:t>
            </a:r>
          </a:p>
        </p:txBody>
      </p:sp>
      <p:sp>
        <p:nvSpPr>
          <p:cNvPr id="3" name="Content Placeholder 2"/>
          <p:cNvSpPr>
            <a:spLocks noGrp="1"/>
          </p:cNvSpPr>
          <p:nvPr>
            <p:ph idx="1"/>
          </p:nvPr>
        </p:nvSpPr>
        <p:spPr/>
        <p:txBody>
          <a:bodyPr/>
          <a:lstStyle/>
          <a:p>
            <a:pPr lvl="0" indent="-342900" marL="342900">
              <a:buAutoNum type="arabicPeriod"/>
            </a:pPr>
            <a:r>
              <a:rPr/>
              <a:t>Select the </a:t>
            </a:r>
            <a:r>
              <a:rPr>
                <a:latin typeface="Courier"/>
              </a:rPr>
              <a:t>Newspaper 0</a:t>
            </a:r>
            <a:r>
              <a:rPr/>
              <a:t> world. It should look like the image above. Find the “World Info” button, just to the right of the upper right hand corner of the above screenshot. What is the goal in this world?</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type="arabicPeriod"/>
            </a:pPr>
            <a:r>
              <a:rPr/>
              <a:t>In english (not code), what is your algorithm for your solution?</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type="arabicPeriod"/>
            </a:pPr>
            <a:r>
              <a:rPr/>
              <a:t>Write a program to implement your algorithm and solve </a:t>
            </a:r>
            <a:r>
              <a:rPr>
                <a:latin typeface="Courier"/>
              </a:rPr>
              <a:t>Newspaper 0</a:t>
            </a:r>
            <a:r>
              <a:rPr/>
              <a:t>.</a:t>
            </a:r>
          </a:p>
          <a:p>
            <a:pPr lvl="0" indent="-342900" marL="342900">
              <a:buAutoNum type="arabicPeriod"/>
            </a:pPr>
            <a:r>
              <a:rPr/>
              <a:t>Add comments to your program to explain what it’s doing (each step of your algorithm).</a:t>
            </a:r>
          </a:p>
          <a:p>
            <a:pPr lvl="0" indent="-342900" marL="342900">
              <a:buAutoNum type="arabicPeriod"/>
            </a:pPr>
            <a:r>
              <a:rPr/>
              <a:t>Save the program in a file called </a:t>
            </a:r>
            <a:r>
              <a:rPr>
                <a:latin typeface="Courier"/>
              </a:rPr>
              <a:t>newspaper0.py</a:t>
            </a:r>
          </a:p>
          <a:p>
            <a:pPr lvl="0" indent="-342900" marL="342900">
              <a:buAutoNum type="arabicPeriod"/>
            </a:pPr>
            <a:r>
              <a:rPr/>
              <a:t>Submit </a:t>
            </a:r>
            <a:r>
              <a:rPr>
                <a:latin typeface="Courier"/>
              </a:rPr>
              <a:t>newspaper0.py</a:t>
            </a:r>
            <a:r>
              <a:rPr/>
              <a:t> on gradescope:</a:t>
            </a:r>
          </a:p>
          <a:p>
            <a:pPr lvl="1" indent="-342900" marL="685800">
              <a:buAutoNum type="alphaLcPeriod"/>
            </a:pPr>
            <a:r>
              <a:rPr/>
              <a:t>Follow link to gradescope (link can be found on the course website)</a:t>
            </a:r>
          </a:p>
          <a:p>
            <a:pPr lvl="1" indent="-342900" marL="685800">
              <a:buAutoNum type="alphaLcPeriod"/>
            </a:pPr>
            <a:r>
              <a:rPr/>
              <a:t>Select Union College from the list of options</a:t>
            </a:r>
          </a:p>
          <a:p>
            <a:pPr lvl="1" indent="-342900" marL="685800">
              <a:buAutoNum type="alphaLcPeriod"/>
            </a:pPr>
            <a:r>
              <a:rPr/>
              <a:t>Login using your Union College credentials</a:t>
            </a:r>
          </a:p>
          <a:p>
            <a:pPr lvl="1" indent="-342900" marL="685800">
              <a:buAutoNum type="alphaLcPeriod"/>
            </a:pPr>
            <a:r>
              <a:rPr/>
              <a:t>Find the assignment: </a:t>
            </a:r>
            <a:r>
              <a:rPr>
                <a:latin typeface="Courier"/>
              </a:rPr>
              <a:t>In-class Assignment: Newspaper 0</a:t>
            </a:r>
          </a:p>
          <a:p>
            <a:pPr lvl="1" indent="-342900" marL="685800">
              <a:buAutoNum type="alphaLcPeriod"/>
            </a:pPr>
            <a:r>
              <a:rPr/>
              <a:t>Upload </a:t>
            </a:r>
            <a:r>
              <a:rPr>
                <a:latin typeface="Courier"/>
              </a:rPr>
              <a:t>newspaper0.py</a:t>
            </a:r>
            <a:r>
              <a:rPr/>
              <a:t> to the assignment</a:t>
            </a:r>
          </a:p>
          <a:p>
            <a:pPr lvl="0" indent="-342900" marL="342900">
              <a:buAutoNum type="arabicPeriod"/>
            </a:pPr>
            <a:r>
              <a:rPr/>
              <a:t>Did the autograder produce error messages? How might you revise your algorithm and/or program?</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type="arabicPeriod"/>
            </a:pPr>
            <a:r>
              <a:rPr/>
              <a:t>Were you able to solve this task? If not, can you think of anything else to try?</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type="arabicPeriod"/>
            </a:pPr>
            <a:r>
              <a:rPr/>
              <a:t>Share the code you worked on with your partner(s) before you leave class. Upload it to your Google drive or email it so you can each complete it, if not already done, and print it out.</a:t>
            </a:r>
          </a:p>
          <a:p>
            <a:pPr lvl="0" indent="0" marL="0">
              <a:buNone/>
            </a:pPr>
            <a:r>
              <a:rPr b="1"/>
              <a:t>For portfolio submission, insert you printed program pages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
                                            <p:txEl>
                                              <p:pRg st="14" end="1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
                                            <p:txEl>
                                              <p:pRg st="15" end="15"/>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1">
                                            <p:txEl>
                                              <p:pRg st="16" end="16"/>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1">
                                            <p:txEl>
                                              <p:pRg st="17" end="17"/>
                                            </p:txEl>
                                          </p:spTgt>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1">
                                            <p:txEl>
                                              <p:pRg st="18" end="18"/>
                                            </p:txEl>
                                          </p:spTgt>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1">
                                            <p:txEl>
                                              <p:pRg st="19" end="19"/>
                                            </p:txEl>
                                          </p:spTgt>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1">
                                            <p:txEl>
                                              <p:pRg st="20" end="20"/>
                                            </p:txEl>
                                          </p:spTgt>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1">
                                            <p:txEl>
                                              <p:pRg st="21" end="21"/>
                                            </p:txEl>
                                          </p:spTgt>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1">
                                            <p:txEl>
                                              <p:pRg st="22" end="22"/>
                                            </p:txEl>
                                          </p:spTgt>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1">
                                            <p:txEl>
                                              <p:pRg st="23" end="23"/>
                                            </p:txEl>
                                          </p:spTgt>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1">
                                            <p:txEl>
                                              <p:pRg st="24" end="24"/>
                                            </p:txEl>
                                          </p:spTgt>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grpId="0" nodeType="clickEffect">
                                  <p:stCondLst>
                                    <p:cond delay="0"/>
                                  </p:stCondLst>
                                  <p:childTnLst>
                                    <p:set>
                                      <p:cBhvr>
                                        <p:cTn id="106" dur="1" fill="hold">
                                          <p:stCondLst>
                                            <p:cond delay="0"/>
                                          </p:stCondLst>
                                        </p:cTn>
                                        <p:tgtEl>
                                          <p:spTgt spid="1">
                                            <p:txEl>
                                              <p:pRg st="25" end="25"/>
                                            </p:txEl>
                                          </p:spTgt>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grpId="0" nodeType="clickEffect">
                                  <p:stCondLst>
                                    <p:cond delay="0"/>
                                  </p:stCondLst>
                                  <p:childTnLst>
                                    <p:set>
                                      <p:cBhvr>
                                        <p:cTn id="110" dur="1" fill="hold">
                                          <p:stCondLst>
                                            <p:cond delay="0"/>
                                          </p:stCondLst>
                                        </p:cTn>
                                        <p:tgtEl>
                                          <p:spTgt spid="1">
                                            <p:txEl>
                                              <p:pRg st="26" end="26"/>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1">
                                            <p:txEl>
                                              <p:pRg st="27" end="27"/>
                                            </p:txEl>
                                          </p:spTgt>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1">
                                            <p:txEl>
                                              <p:pRg st="28" end="28"/>
                                            </p:txEl>
                                          </p:spTgt>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0" nodeType="clickEffect">
                                  <p:stCondLst>
                                    <p:cond delay="0"/>
                                  </p:stCondLst>
                                  <p:childTnLst>
                                    <p:set>
                                      <p:cBhvr>
                                        <p:cTn id="122" dur="1" fill="hold">
                                          <p:stCondLst>
                                            <p:cond delay="0"/>
                                          </p:stCondLst>
                                        </p:cTn>
                                        <p:tgtEl>
                                          <p:spTgt spid="1">
                                            <p:txEl>
                                              <p:pRg st="29" end="29"/>
                                            </p:txEl>
                                          </p:spTgt>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grpId="0" nodeType="clickEffect">
                                  <p:stCondLst>
                                    <p:cond delay="0"/>
                                  </p:stCondLst>
                                  <p:childTnLst>
                                    <p:set>
                                      <p:cBhvr>
                                        <p:cTn id="126" dur="1" fill="hold">
                                          <p:stCondLst>
                                            <p:cond delay="0"/>
                                          </p:stCondLst>
                                        </p:cTn>
                                        <p:tgtEl>
                                          <p:spTgt spid="1">
                                            <p:txEl>
                                              <p:pRg st="30" end="30"/>
                                            </p:txEl>
                                          </p:spTgt>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ntr" presetSubtype="0" fill="hold" grpId="0" nodeType="clickEffect">
                                  <p:stCondLst>
                                    <p:cond delay="0"/>
                                  </p:stCondLst>
                                  <p:childTnLst>
                                    <p:set>
                                      <p:cBhvr>
                                        <p:cTn id="130" dur="1" fill="hold">
                                          <p:stCondLst>
                                            <p:cond delay="0"/>
                                          </p:stCondLst>
                                        </p:cTn>
                                        <p:tgtEl>
                                          <p:spTgt spid="1">
                                            <p:txEl>
                                              <p:pRg st="31" end="31"/>
                                            </p:txEl>
                                          </p:spTgt>
                                        </p:tgtEl>
                                        <p:attrNameLst>
                                          <p:attrName>style.visibility</p:attrName>
                                        </p:attrNameLst>
                                      </p:cBhvr>
                                      <p:to>
                                        <p:strVal val="visible"/>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grpId="0" nodeType="clickEffect">
                                  <p:stCondLst>
                                    <p:cond delay="0"/>
                                  </p:stCondLst>
                                  <p:childTnLst>
                                    <p:set>
                                      <p:cBhvr>
                                        <p:cTn id="134" dur="1" fill="hold">
                                          <p:stCondLst>
                                            <p:cond delay="0"/>
                                          </p:stCondLst>
                                        </p:cTn>
                                        <p:tgtEl>
                                          <p:spTgt spid="1">
                                            <p:txEl>
                                              <p:pRg st="32" end="32"/>
                                            </p:txEl>
                                          </p:spTgt>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ntr" presetSubtype="0" fill="hold" grpId="0" nodeType="clickEffect">
                                  <p:stCondLst>
                                    <p:cond delay="0"/>
                                  </p:stCondLst>
                                  <p:childTnLst>
                                    <p:set>
                                      <p:cBhvr>
                                        <p:cTn id="138" dur="1" fill="hold">
                                          <p:stCondLst>
                                            <p:cond delay="0"/>
                                          </p:stCondLst>
                                        </p:cTn>
                                        <p:tgtEl>
                                          <p:spTgt spid="1">
                                            <p:txEl>
                                              <p:pRg st="33" end="33"/>
                                            </p:txEl>
                                          </p:spTgt>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1">
                                            <p:txEl>
                                              <p:pRg st="34" end="34"/>
                                            </p:txEl>
                                          </p:spTgt>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1" presetClass="entr" presetSubtype="0" fill="hold" grpId="0" nodeType="clickEffect">
                                  <p:stCondLst>
                                    <p:cond delay="0"/>
                                  </p:stCondLst>
                                  <p:childTnLst>
                                    <p:set>
                                      <p:cBhvr>
                                        <p:cTn id="146" dur="1" fill="hold">
                                          <p:stCondLst>
                                            <p:cond delay="0"/>
                                          </p:stCondLst>
                                        </p:cTn>
                                        <p:tgtEl>
                                          <p:spTgt spid="1">
                                            <p:txEl>
                                              <p:pRg st="35" end="35"/>
                                            </p:txEl>
                                          </p:spTgt>
                                        </p:tgtEl>
                                        <p:attrNameLst>
                                          <p:attrName>style.visibility</p:attrName>
                                        </p:attrNameLst>
                                      </p:cBhvr>
                                      <p:to>
                                        <p:strVal val="visible"/>
                                      </p:to>
                                    </p:set>
                                  </p:childTnLst>
                                </p:cTn>
                              </p:par>
                            </p:childTnLst>
                          </p:cTn>
                        </p:par>
                      </p:childTnLst>
                    </p:cTn>
                  </p:par>
                  <p:par>
                    <p:cTn id="147" fill="hold">
                      <p:stCondLst>
                        <p:cond delay="indefinite"/>
                      </p:stCondLst>
                      <p:childTnLst>
                        <p:par>
                          <p:cTn id="148" fill="hold">
                            <p:stCondLst>
                              <p:cond delay="0"/>
                            </p:stCondLst>
                            <p:childTnLst>
                              <p:par>
                                <p:cTn id="149" presetID="1" presetClass="entr" presetSubtype="0" fill="hold" grpId="0" nodeType="clickEffect">
                                  <p:stCondLst>
                                    <p:cond delay="0"/>
                                  </p:stCondLst>
                                  <p:childTnLst>
                                    <p:set>
                                      <p:cBhvr>
                                        <p:cTn id="150" dur="1" fill="hold">
                                          <p:stCondLst>
                                            <p:cond delay="0"/>
                                          </p:stCondLst>
                                        </p:cTn>
                                        <p:tgtEl>
                                          <p:spTgt spid="1">
                                            <p:txEl>
                                              <p:pRg st="36" end="36"/>
                                            </p:txEl>
                                          </p:spTgt>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1">
                                            <p:txEl>
                                              <p:pRg st="37" end="37"/>
                                            </p:txEl>
                                          </p:spTgt>
                                        </p:tgtEl>
                                        <p:attrNameLst>
                                          <p:attrName>style.visibility</p:attrName>
                                        </p:attrNameLst>
                                      </p:cBhvr>
                                      <p:to>
                                        <p:strVal val="visible"/>
                                      </p:to>
                                    </p:set>
                                  </p:childTnLst>
                                </p:cTn>
                              </p:par>
                            </p:childTnLst>
                          </p:cTn>
                        </p:par>
                      </p:childTnLst>
                    </p:cTn>
                  </p:par>
                  <p:par>
                    <p:cTn id="155" fill="hold">
                      <p:stCondLst>
                        <p:cond delay="indefinite"/>
                      </p:stCondLst>
                      <p:childTnLst>
                        <p:par>
                          <p:cTn id="156" fill="hold">
                            <p:stCondLst>
                              <p:cond delay="0"/>
                            </p:stCondLst>
                            <p:childTnLst>
                              <p:par>
                                <p:cTn id="157" presetID="1" presetClass="entr" presetSubtype="0" fill="hold" grpId="0" nodeType="clickEffect">
                                  <p:stCondLst>
                                    <p:cond delay="0"/>
                                  </p:stCondLst>
                                  <p:childTnLst>
                                    <p:set>
                                      <p:cBhvr>
                                        <p:cTn id="158" dur="1" fill="hold">
                                          <p:stCondLst>
                                            <p:cond delay="0"/>
                                          </p:stCondLst>
                                        </p:cTn>
                                        <p:tgtEl>
                                          <p:spTgt spid="1">
                                            <p:txEl>
                                              <p:pRg st="38" end="38"/>
                                            </p:txEl>
                                          </p:spTgt>
                                        </p:tgtEl>
                                        <p:attrNameLst>
                                          <p:attrName>style.visibility</p:attrName>
                                        </p:attrNameLst>
                                      </p:cBhvr>
                                      <p:to>
                                        <p:strVal val="visible"/>
                                      </p:to>
                                    </p:set>
                                  </p:childTnLst>
                                </p:cTn>
                              </p:par>
                            </p:childTnLst>
                          </p:cTn>
                        </p:par>
                      </p:childTnLst>
                    </p:cTn>
                  </p:par>
                  <p:par>
                    <p:cTn id="159" fill="hold">
                      <p:stCondLst>
                        <p:cond delay="indefinite"/>
                      </p:stCondLst>
                      <p:childTnLst>
                        <p:par>
                          <p:cTn id="160" fill="hold">
                            <p:stCondLst>
                              <p:cond delay="0"/>
                            </p:stCondLst>
                            <p:childTnLst>
                              <p:par>
                                <p:cTn id="161" presetID="1" presetClass="entr" presetSubtype="0" fill="hold" grpId="0" nodeType="clickEffect">
                                  <p:stCondLst>
                                    <p:cond delay="0"/>
                                  </p:stCondLst>
                                  <p:childTnLst>
                                    <p:set>
                                      <p:cBhvr>
                                        <p:cTn id="162" dur="1" fill="hold">
                                          <p:stCondLst>
                                            <p:cond delay="0"/>
                                          </p:stCondLst>
                                        </p:cTn>
                                        <p:tgtEl>
                                          <p:spTgt spid="1">
                                            <p:txEl>
                                              <p:pRg st="39" end="3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83297"/>
            <a:ext cx="8229600" cy="857250"/>
          </a:xfrm>
          <a:prstGeom prst="rect">
            <a:avLst/>
          </a:prstGeom>
        </p:spPr>
        <p:txBody>
          <a:bodyPr/>
          <a:lstStyle/>
          <a:p>
            <a:pPr lvl="0" indent="0" marL="0">
              <a:buNone/>
            </a:pPr>
            <a:r>
              <a:rPr/>
              <a:t>A6) Check-in Questions, Syntax and Semantics</a:t>
            </a:r>
          </a:p>
        </p:txBody>
      </p:sp>
      <p:sp>
        <p:nvSpPr>
          <p:cNvPr id="3" name="Content Placeholder 2"/>
          <p:cNvSpPr>
            <a:spLocks noGrp="1"/>
          </p:cNvSpPr>
          <p:nvPr>
            <p:ph idx="1"/>
          </p:nvPr>
        </p:nvSpPr>
        <p:spPr/>
        <p:txBody>
          <a:bodyPr/>
          <a:lstStyle/>
          <a:p>
            <a:pPr lvl="0" indent="0" marL="0">
              <a:buNone/>
            </a:pPr>
            <a:r>
              <a:rPr/>
              <a:t>Answer the following questions about Reeborg and Python (Turtle) syntax. Think about what the program syntax looks like and means. Programs can be valid, meaning they have proper syntax, but to be </a:t>
            </a:r>
            <a:r>
              <a:rPr i="1"/>
              <a:t>correct</a:t>
            </a:r>
            <a:r>
              <a:rPr/>
              <a:t> they must also do what the programmer intends them to do, meaning the semantics are right.</a:t>
            </a:r>
          </a:p>
          <a:p>
            <a:pPr lvl="0" indent="0" marL="0">
              <a:buNone/>
            </a:pPr>
            <a:r>
              <a:rPr b="1"/>
              <a:t>Take a look at Runestone Chapter 2 before completing the rest of this portfolio.</a:t>
            </a:r>
          </a:p>
          <a:p>
            <a:pPr lvl="0" indent="-342900" marL="342900">
              <a:buAutoNum type="arabicPeriod"/>
            </a:pPr>
            <a:r>
              <a:rPr/>
              <a:t>Which of the following programs are valid Reeborg programs that cause Reborg to execute a sequence of actions? What’s wrong with the invalid ones? (Assume Reeborg won’t run into walls)</a:t>
            </a:r>
          </a:p>
          <a:p>
            <a:pPr lvl="1" indent="0">
              <a:buNone/>
            </a:pPr>
            <a:r>
              <a:rPr>
                <a:latin typeface="Courier"/>
              </a:rPr>
              <a:t>Move() 
Move()
Move()</a:t>
            </a:r>
          </a:p>
          <a:p>
            <a:pPr lvl="1" indent="0">
              <a:buNone/>
            </a:pPr>
            <a:r>
              <a:rPr>
                <a:latin typeface="Courier"/>
              </a:rPr>
              <a:t>move()
turn_left()
turn_left()
turn_left()
move()</a:t>
            </a:r>
          </a:p>
          <a:p>
            <a:pPr lvl="1" indent="0">
              <a:buNone/>
            </a:pPr>
            <a:r>
              <a:rPr>
                <a:latin typeface="Courier"/>
              </a:rPr>
              <a:t>move()
move()
turn_right()
move()</a:t>
            </a:r>
          </a:p>
          <a:p>
            <a:pPr lvl="1" indent="0">
              <a:buNone/>
            </a:pPr>
            <a:r>
              <a:rPr>
                <a:latin typeface="Courier"/>
              </a:rPr>
              <a:t>move
turn_left
move
move</a:t>
            </a:r>
          </a:p>
          <a:p>
            <a:pPr lvl="0" indent="-342900" marL="342900">
              <a:buAutoNum type="arabicPeriod"/>
            </a:pPr>
            <a:r>
              <a:rPr/>
              <a:t>The following is a function call statement:</a:t>
            </a:r>
            <a:br/>
            <a:r>
              <a:rPr>
                <a:latin typeface="Courier"/>
              </a:rPr>
              <a:t>turn_left()</a:t>
            </a:r>
          </a:p>
          <a:p>
            <a:pPr lvl="1" indent="-342900" marL="685800">
              <a:buAutoNum type="alphaLcPeriod"/>
            </a:pPr>
            <a:r>
              <a:rPr/>
              <a:t>What is the name of the function being called?</a:t>
            </a:r>
          </a:p>
          <a:p>
            <a:pPr lvl="1" indent="0" marL="342900">
              <a:buNone/>
            </a:pPr>
            <a:r>
              <a:rPr/>
              <a:t>………………………………………………………………………………………………</a:t>
            </a:r>
          </a:p>
          <a:p>
            <a:pPr lvl="1" indent="-342900" marL="685800">
              <a:buAutoNum startAt="2" type="alphaLcPeriod"/>
            </a:pPr>
            <a:r>
              <a:rPr/>
              <a:t>What purpose do the parentheses serve?</a:t>
            </a:r>
          </a:p>
          <a:p>
            <a:pPr lvl="1" indent="0" marL="342900">
              <a:buNone/>
            </a:pPr>
            <a:r>
              <a:rPr/>
              <a:t>………………………………………………………………………………………………</a:t>
            </a:r>
          </a:p>
          <a:p>
            <a:pPr lvl="1" indent="-342900" marL="685800">
              <a:buAutoNum startAt="3" type="alphaLcPeriod"/>
            </a:pPr>
            <a:r>
              <a:rPr/>
              <a:t>What is a function?</a:t>
            </a:r>
          </a:p>
          <a:p>
            <a:pPr lvl="1" indent="0" marL="342900">
              <a:buNone/>
            </a:pPr>
            <a:r>
              <a:rPr/>
              <a:t>………………………………………………………………………………………………</a:t>
            </a:r>
          </a:p>
          <a:p>
            <a:pPr lvl="1" indent="0" marL="342900">
              <a:buNone/>
            </a:pPr>
            <a:r>
              <a:rPr/>
              <a:t>………………………………………………………………………………………………</a:t>
            </a:r>
          </a:p>
          <a:p>
            <a:pPr lvl="1" indent="-342900" marL="685800">
              <a:buAutoNum startAt="4" type="alphaLcPeriod"/>
            </a:pPr>
            <a:r>
              <a:rPr/>
              <a:t>What does “calling a function” mean?</a:t>
            </a:r>
          </a:p>
          <a:p>
            <a:pPr lvl="1" indent="0" marL="342900">
              <a:buNone/>
            </a:pPr>
            <a:r>
              <a:rPr/>
              <a:t>………………………………………………………………………………………………</a:t>
            </a:r>
          </a:p>
          <a:p>
            <a:pPr lvl="1" indent="0" marL="342900">
              <a:buNone/>
            </a:pPr>
            <a:r>
              <a:rPr/>
              <a:t>………………………………………………………………………………………………</a:t>
            </a:r>
          </a:p>
          <a:p>
            <a:pPr lvl="0" indent="-342900" marL="342900">
              <a:buAutoNum type="arabicPeriod"/>
            </a:pPr>
            <a:r>
              <a:rPr/>
              <a:t>Consider the following Python program. Draw the pattern that the turtle draws when this program is executed. Also indicate the position and orientation of the turtle after this program has been executed. Hint: The turtle starts out in the center of the turtle window, facing to the right</a:t>
            </a:r>
          </a:p>
          <a:p>
            <a:pPr lvl="0" indent="0">
              <a:buNone/>
            </a:pPr>
            <a:r>
              <a:rPr>
                <a:latin typeface="Courier"/>
              </a:rPr>
              <a:t>import turtle           
turtle.left(90)
turtle.forward(200)
turtle.left(180)
turtle.forward(100)
turtle.left(90)
turtle.forward(100)</a:t>
            </a:r>
          </a:p>
          <a:p>
            <a:pPr lvl="0" indent="-342900" marL="342900">
              <a:buAutoNum startAt="4" type="arabicPeriod"/>
            </a:pPr>
            <a:r>
              <a:rPr/>
              <a:t>Which of the following programs are valid Python programs? Indicate which are valid. For the invalid ones, explain or indicate what is wrong. The import statement isn’t shown, but you can assume that the turtle module has been imported.</a:t>
            </a:r>
          </a:p>
          <a:p>
            <a:pPr lvl="1" indent="0">
              <a:buNone/>
            </a:pPr>
            <a:r>
              <a:rPr>
                <a:latin typeface="Courier"/>
              </a:rPr>
              <a:t>turtle.forward(100)
turtle.right(90)
turtle.forward(100)</a:t>
            </a:r>
          </a:p>
          <a:p>
            <a:pPr lvl="1" indent="0">
              <a:buNone/>
            </a:pPr>
            <a:r>
              <a:rPr>
                <a:latin typeface="Courier"/>
              </a:rPr>
              <a:t>turtle.forward
turtle.left
turtle.forward</a:t>
            </a:r>
          </a:p>
          <a:p>
            <a:pPr lvl="1" indent="0">
              <a:buNone/>
            </a:pPr>
            <a:r>
              <a:rPr>
                <a:latin typeface="Courier"/>
              </a:rPr>
              <a:t>turtle.forward(100)
turtle.turn_right(90)
turtle.forward(100)</a:t>
            </a:r>
          </a:p>
          <a:p>
            <a:pPr lvl="1" indent="0">
              <a:buNone/>
            </a:pPr>
            <a:r>
              <a:rPr>
                <a:latin typeface="Courier"/>
              </a:rPr>
              <a:t>turtle.Forward(100)
turtle.right(90)
turtle.Forward(100)</a:t>
            </a:r>
          </a:p>
          <a:p>
            <a:pPr lvl="0" indent="-342900" marL="342900">
              <a:buAutoNum startAt="4" type="arabicPeriod"/>
            </a:pPr>
            <a:r>
              <a:rPr/>
              <a:t>What required the most thinking — coming up with algorithms, writing programs or communicating in pair programming? Did the activities rquire different </a:t>
            </a:r>
            <a:r>
              <a:rPr i="1"/>
              <a:t>types</a:t>
            </a:r>
            <a:r>
              <a:rPr/>
              <a:t> and/or </a:t>
            </a:r>
            <a:r>
              <a:rPr i="1"/>
              <a:t>amounts</a:t>
            </a:r>
            <a:r>
              <a:rPr/>
              <a:t> of thinking?</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25" end="25"/>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26" end="26"/>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3">
                                            <p:txEl>
                                              <p:pRg st="27" end="27"/>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3">
                                            <p:txEl>
                                              <p:pRg st="28" end="28"/>
                                            </p:txEl>
                                          </p:spTgt>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3">
                                            <p:txEl>
                                              <p:pRg st="29" end="29"/>
                                            </p:txEl>
                                          </p:spTgt>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3">
                                            <p:txEl>
                                              <p:pRg st="30" end="30"/>
                                            </p:txEl>
                                          </p:spTgt>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3">
                                            <p:txEl>
                                              <p:pRg st="31" end="31"/>
                                            </p:txEl>
                                          </p:spTgt>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3">
                                            <p:txEl>
                                              <p:pRg st="32" end="32"/>
                                            </p:txEl>
                                          </p:spTgt>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3">
                                            <p:txEl>
                                              <p:pRg st="33" end="3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83297"/>
            <a:ext cx="8229600" cy="857250"/>
          </a:xfrm>
          <a:prstGeom prst="rect">
            <a:avLst/>
          </a:prstGeom>
        </p:spPr>
        <p:txBody>
          <a:bodyPr/>
          <a:lstStyle/>
          <a:p>
            <a:pPr lvl="0" indent="0" marL="0">
              <a:buNone/>
            </a:pPr>
            <a:r>
              <a:rPr/>
              <a:t>A7) Tracing (re-)assignment with Memory Diagrams</a:t>
            </a:r>
          </a:p>
        </p:txBody>
      </p:sp>
      <p:sp>
        <p:nvSpPr>
          <p:cNvPr id="3" name="Content Placeholder 2"/>
          <p:cNvSpPr>
            <a:spLocks noGrp="1"/>
          </p:cNvSpPr>
          <p:nvPr>
            <p:ph idx="1"/>
          </p:nvPr>
        </p:nvSpPr>
        <p:spPr/>
        <p:txBody>
          <a:bodyPr/>
          <a:lstStyle/>
          <a:p>
            <a:pPr lvl="0" indent="0" marL="0">
              <a:buNone/>
            </a:pPr>
            <a:r>
              <a:rPr/>
              <a:t>Consider the following snippet of Python code.</a:t>
            </a:r>
          </a:p>
          <a:p>
            <a:pPr lvl="0" indent="0">
              <a:buNone/>
            </a:pPr>
            <a:r>
              <a:rPr>
                <a:latin typeface="Courier"/>
              </a:rPr>
              <a:t>1.  x = 5
2.  y = 10
3.  z = x
4.  x = y + 3
5.  y = z</a:t>
            </a:r>
          </a:p>
          <a:p>
            <a:pPr lvl="0" indent="-342900" marL="342900">
              <a:buAutoNum type="arabicPeriod"/>
            </a:pPr>
            <a:r>
              <a:rPr/>
              <a:t>Draw a memory diagram that shows the </a:t>
            </a:r>
            <a:r>
              <a:rPr>
                <a:latin typeface="Courier"/>
              </a:rPr>
              <a:t>&lt;variable name&gt;-&lt;object/value&gt;</a:t>
            </a:r>
            <a:r>
              <a:rPr/>
              <a:t> associations after line 3 has been executed.</a:t>
            </a:r>
          </a:p>
          <a:p>
            <a:pPr lvl="0" indent="-342900" marL="342900">
              <a:buAutoNum startAt="2" type="arabicPeriod"/>
            </a:pPr>
            <a:r>
              <a:rPr/>
              <a:t>Draw a memory diagram that shows the </a:t>
            </a:r>
            <a:r>
              <a:rPr>
                <a:latin typeface="Courier"/>
              </a:rPr>
              <a:t>&lt;variable name&gt;-&lt;object/value&gt;</a:t>
            </a:r>
            <a:r>
              <a:rPr/>
              <a:t> associations after line 4 has been executed.</a:t>
            </a:r>
          </a:p>
          <a:p>
            <a:pPr lvl="0" indent="-342900" marL="342900">
              <a:buAutoNum startAt="3" type="arabicPeriod"/>
            </a:pPr>
            <a:r>
              <a:rPr/>
              <a:t>Draw a memory diagram that shows the </a:t>
            </a:r>
            <a:r>
              <a:rPr>
                <a:latin typeface="Courier"/>
              </a:rPr>
              <a:t>&lt;variable name&gt;-&lt;object/value&gt;</a:t>
            </a:r>
            <a:r>
              <a:rPr/>
              <a:t> associations after the whole snippet has been executed.</a:t>
            </a:r>
          </a:p>
          <a:p>
            <a:pPr lvl="0" indent="-342900" marL="342900">
              <a:buAutoNum startAt="4" type="arabicPeriod"/>
            </a:pPr>
            <a:r>
              <a:rPr/>
              <a:t>In Python, what happens in the machine’s memory blocks when a variable is assigned to another variable? Do the variables share a memory block, or is a new memory location used? Assume the inital variable was assigned to an integer value.</a:t>
            </a:r>
          </a:p>
          <a:p>
            <a:pPr lvl="0" indent="-342900" marL="342900">
              <a:buAutoNum startAt="5" type="arabicPeriod"/>
            </a:pPr>
            <a:r>
              <a:rPr/>
              <a:t>Depict the process you described above with a diagram/drawing.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83297"/>
            <a:ext cx="8229600" cy="857250"/>
          </a:xfrm>
          <a:prstGeom prst="rect">
            <a:avLst/>
          </a:prstGeom>
        </p:spPr>
        <p:txBody>
          <a:bodyPr/>
          <a:lstStyle/>
          <a:p>
            <a:pPr lvl="0" indent="0" marL="0">
              <a:buNone/>
            </a:pPr>
            <a:r>
              <a:rPr/>
              <a:t>A8) Arithmetic in Python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Computer programming languages are often designed to handle arithmetic operations such as addition, subtraction, multiplication, division, and exponents. These operations are performed through the use of operators, several of which are listed below:</a:t>
                </a:r>
              </a:p>
              <a:p>
                <a:pPr lvl="0" indent="0" marL="0">
                  <a:buNone/>
                </a:pPr>
                <a14:m>
                  <m:oMathPara xmlns:m="http://schemas.openxmlformats.org/officeDocument/2006/math">
                    <m:oMathParaPr>
                      <m:jc m:val="center"/>
                    </m:oMathParaPr>
                    <m:oMath>
                      <m:r>
                        <m:rPr>
                          <m:sty m:val="p"/>
                        </m:rPr>
                        <m:t>+</m:t>
                      </m:r>
                      <m:r>
                        <m:rPr>
                          <m:sty m:val="p"/>
                        </m:rPr>
                        <m:t>,</m:t>
                      </m:r>
                      <m:r>
                        <m:rPr>
                          <m:sty m:val="p"/>
                        </m:rPr>
                        <m:t>−</m:t>
                      </m:r>
                      <m:r>
                        <m:rPr>
                          <m:sty m:val="p"/>
                        </m:rPr>
                        <m:t>,</m:t>
                      </m:r>
                      <m:r>
                        <m:rPr>
                          <m:sty m:val="p"/>
                        </m:rPr>
                        <m:t>*</m:t>
                      </m:r>
                      <m:r>
                        <m:rPr>
                          <m:sty m:val="p"/>
                        </m:rPr>
                        <m:t>,</m:t>
                      </m:r>
                      <m:r>
                        <m:rPr>
                          <m:sty m:val="p"/>
                        </m:rPr>
                        <m:t>/</m:t>
                      </m:r>
                      <m:r>
                        <m:rPr>
                          <m:sty m:val="p"/>
                        </m:rPr>
                        <m:t>,</m:t>
                      </m:r>
                      <m:r>
                        <m:rPr>
                          <m:sty m:val="p"/>
                        </m:rPr>
                        <m:t>/</m:t>
                      </m:r>
                      <m:r>
                        <m:rPr>
                          <m:sty m:val="p"/>
                        </m:rPr>
                        <m:t>/</m:t>
                      </m:r>
                      <m:r>
                        <m:rPr>
                          <m:sty m:val="p"/>
                        </m:rPr>
                        <m:t>,</m:t>
                      </m:r>
                      <m:r>
                        <m:rPr>
                          <m:sty m:val="p"/>
                        </m:rPr>
                        <m:t>%</m:t>
                      </m:r>
                      <m:r>
                        <m:rPr>
                          <m:sty m:val="p"/>
                        </m:rPr>
                        <m:t>,</m:t>
                      </m:r>
                      <m:r>
                        <m:rPr>
                          <m:sty m:val="p"/>
                        </m:rPr>
                        <m:t>*</m:t>
                      </m:r>
                      <m:r>
                        <m:rPr>
                          <m:sty m:val="p"/>
                        </m:rPr>
                        <m:t>*</m:t>
                      </m:r>
                    </m:oMath>
                  </m:oMathPara>
                </a14:m>
              </a:p>
              <a:p>
                <a:pPr lvl="0" indent="0" marL="0">
                  <a:buNone/>
                </a:pPr>
                <a:r>
                  <a:rPr/>
                  <a:t>Just as in mathematics, we can use these operators to develop complex mathematical equations. Also like in math in a more general sense, parentheses can be used to give some operations a higher priority than they would normally have. For example:</a:t>
                </a:r>
              </a:p>
              <a:p>
                <a:pPr lvl="0" indent="0" marL="0">
                  <a:buNone/>
                </a:pPr>
                <a14:m>
                  <m:oMathPara xmlns:m="http://schemas.openxmlformats.org/officeDocument/2006/math">
                    <m:oMathParaPr>
                      <m:jc m:val="center"/>
                    </m:oMathParaPr>
                    <m:oMath>
                      <m:r>
                        <m:t>2</m:t>
                      </m:r>
                      <m:r>
                        <m:rPr>
                          <m:sty m:val="p"/>
                        </m:rPr>
                        <m:t>+</m:t>
                      </m:r>
                      <m:r>
                        <m:t>4</m:t>
                      </m:r>
                      <m:r>
                        <m:rPr>
                          <m:sty m:val="p"/>
                        </m:rPr>
                        <m:t>*</m:t>
                      </m:r>
                      <m:r>
                        <m:t>2</m:t>
                      </m:r>
                      <m:r>
                        <m:rPr>
                          <m:sty m:val="p"/>
                        </m:rPr>
                        <m:t>=</m:t>
                      </m:r>
                      <m:r>
                        <m:t>2</m:t>
                      </m:r>
                      <m:r>
                        <m:rPr>
                          <m:sty m:val="p"/>
                        </m:rPr>
                        <m:t>+</m:t>
                      </m:r>
                      <m:r>
                        <m:t>8</m:t>
                      </m:r>
                      <m:r>
                        <m:rPr>
                          <m:sty m:val="p"/>
                        </m:rPr>
                        <m:t>=</m:t>
                      </m:r>
                      <m:r>
                        <m:t>10</m:t>
                      </m:r>
                    </m:oMath>
                  </m:oMathPara>
                </a14:m>
              </a:p>
              <a:p>
                <a:pPr lvl="0" indent="0" marL="0">
                  <a:buNone/>
                </a:pPr>
                <a14:m>
                  <m:oMathPara xmlns:m="http://schemas.openxmlformats.org/officeDocument/2006/math">
                    <m:oMathParaPr>
                      <m:jc m:val="center"/>
                    </m:oMathParaPr>
                    <m:oMath>
                      <m:d>
                        <m:dPr>
                          <m:begChr m:val="("/>
                          <m:sepChr m:val=""/>
                          <m:endChr m:val=")"/>
                          <m:grow/>
                        </m:dPr>
                        <m:e>
                          <m:r>
                            <m:t>2</m:t>
                          </m:r>
                          <m:r>
                            <m:rPr>
                              <m:sty m:val="p"/>
                            </m:rPr>
                            <m:t>+</m:t>
                          </m:r>
                          <m:r>
                            <m:t>4</m:t>
                          </m:r>
                        </m:e>
                      </m:d>
                      <m:r>
                        <m:rPr>
                          <m:sty m:val="p"/>
                        </m:rPr>
                        <m:t>*</m:t>
                      </m:r>
                      <m:r>
                        <m:t>2</m:t>
                      </m:r>
                      <m:r>
                        <m:rPr>
                          <m:sty m:val="p"/>
                        </m:rPr>
                        <m:t>=</m:t>
                      </m:r>
                      <m:r>
                        <m:t>6</m:t>
                      </m:r>
                      <m:r>
                        <m:rPr>
                          <m:sty m:val="p"/>
                        </m:rPr>
                        <m:t>*</m:t>
                      </m:r>
                      <m:r>
                        <m:t>2</m:t>
                      </m:r>
                      <m:r>
                        <m:rPr>
                          <m:sty m:val="p"/>
                        </m:rPr>
                        <m:t>=</m:t>
                      </m:r>
                      <m:r>
                        <m:t>12</m:t>
                      </m:r>
                    </m:oMath>
                  </m:oMathPara>
                </a14:m>
              </a:p>
              <a:p>
                <a:pPr lvl="0" indent="-342900" marL="342900">
                  <a:buAutoNum type="arabicPeriod"/>
                </a:pPr>
                <a:r>
                  <a:rPr/>
                  <a:t>Using IDLE, write a Python program that uses each of the operators shown above at least once. Please include comments explaining what it looks like each operator does. You may need to experiment with some of them to figure out exactly what they’re doing. Name your program </a:t>
                </a:r>
                <a:r>
                  <a:rPr>
                    <a:latin typeface="Courier"/>
                  </a:rPr>
                  <a:t>arithmetic.py</a:t>
                </a:r>
                <a:r>
                  <a:rPr/>
                  <a:t>.</a:t>
                </a:r>
              </a:p>
              <a:p>
                <a:pPr lvl="0" indent="-342900" marL="342900">
                  <a:buAutoNum type="arabicPeriod"/>
                </a:pPr>
                <a:r>
                  <a:rPr/>
                  <a:t>Add print statements to give the same information as the comments so a user will see an explanation of what the program is doing whenever they run it.</a:t>
                </a:r>
              </a:p>
              <a:p>
                <a:pPr lvl="0" indent="-342900" marL="342900">
                  <a:buAutoNum type="arabicPeriod"/>
                </a:pPr>
                <a:r>
                  <a:rPr/>
                  <a:t>Taxes, tips, and totals: Now we’re going to write a program to calculate the tax, tip, and total cost for dining at a restaurant. Name your program </a:t>
                </a:r>
                <a:r>
                  <a:rPr>
                    <a:latin typeface="Courier"/>
                  </a:rPr>
                  <a:t>receipt.py</a:t>
                </a:r>
                <a:r>
                  <a:rPr/>
                  <a:t>.</a:t>
                </a:r>
              </a:p>
              <a:p>
                <a:pPr lvl="1" indent="0" marL="342900">
                  <a:buNone/>
                </a:pPr>
                <a:r>
                  <a:rPr/>
                  <a:t>Start by assigning the following values to variables:</a:t>
                </a:r>
              </a:p>
              <a:p>
                <a:pPr lvl="1" indent="-342900" marL="685800">
                  <a:buAutoNum type="romanLcPeriod"/>
                </a:pPr>
                <a:r>
                  <a:rPr/>
                  <a:t>The meal’s subtotal of $35 (example name: </a:t>
                </a:r>
                <a:r>
                  <a:rPr>
                    <a:latin typeface="Courier"/>
                  </a:rPr>
                  <a:t>meal_cost</a:t>
                </a:r>
                <a:r>
                  <a:rPr/>
                  <a:t>)</a:t>
                </a:r>
              </a:p>
              <a:p>
                <a:pPr lvl="1" indent="-342900" marL="685800">
                  <a:buAutoNum type="romanLcPeriod"/>
                </a:pPr>
                <a:r>
                  <a:rPr/>
                  <a:t>The meal’s tax rate of 7% (example name: </a:t>
                </a:r>
                <a:r>
                  <a:rPr>
                    <a:latin typeface="Courier"/>
                  </a:rPr>
                  <a:t>tax_rate</a:t>
                </a:r>
                <a:r>
                  <a:rPr/>
                  <a:t>)</a:t>
                </a:r>
              </a:p>
              <a:p>
                <a:pPr lvl="1" indent="-342900" marL="685800">
                  <a:buAutoNum type="romanLcPeriod"/>
                </a:pPr>
                <a:r>
                  <a:rPr/>
                  <a:t>The meal’s tip rate of 25% (example name: </a:t>
                </a:r>
                <a:r>
                  <a:rPr>
                    <a:latin typeface="Courier"/>
                  </a:rPr>
                  <a:t>tip_rate</a:t>
                </a:r>
                <a:r>
                  <a:rPr/>
                  <a:t>)</a:t>
                </a:r>
              </a:p>
              <a:p>
                <a:pPr lvl="0" indent="-342900" marL="342900">
                  <a:buAutoNum type="arabicPeriod"/>
                </a:pPr>
                <a:r>
                  <a:rPr/>
                  <a:t>Add code to compute the tax, tip, and total cost for the meal, then use print() to display a receipt that displays the following information:</a:t>
                </a:r>
              </a:p>
              <a:p>
                <a:pPr lvl="0" indent="0">
                  <a:buNone/>
                </a:pPr>
                <a:r>
                  <a:rPr>
                    <a:latin typeface="Courier"/>
                  </a:rPr>
                  <a:t>RECEIPT
Sub-total: $35
Tax:       $2.45
Tip:       $8.75
Total:     $46.20</a:t>
                </a:r>
              </a:p>
              <a:p>
                <a:pPr lvl="0" indent="-342900" marL="342900">
                  <a:buAutoNum startAt="5" type="arabicPeriod"/>
                </a:pPr>
                <a:r>
                  <a:rPr/>
                  <a:t>Make the numbers line up nicely. For the time being, it’s perfectly acceptable if $46.20 appears as $46.2 instead.</a:t>
                </a:r>
              </a:p>
              <a:p>
                <a:pPr lvl="0" indent="-342900" marL="342900">
                  <a:buAutoNum startAt="5" type="arabicPeriod"/>
                </a:pPr>
                <a:r>
                  <a:rPr/>
                  <a:t>Change the values assigned to each of the three variables you created. Do the results produced by the altered program make sense? (e.g. is the tip computed correctly?) If not, then figure out why and try to fix it.</a:t>
                </a:r>
              </a:p>
              <a:p>
                <a:pPr lvl="0" indent="-342900" marL="342900">
                  <a:buAutoNum startAt="5" type="arabicPeriod"/>
                </a:pPr>
                <a:r>
                  <a:rPr/>
                  <a:t>Adjust the program so that </a:t>
                </a:r>
                <a:r>
                  <a:rPr>
                    <a:latin typeface="Courier"/>
                  </a:rPr>
                  <a:t>meal_cost</a:t>
                </a:r>
                <a:r>
                  <a:rPr/>
                  <a:t>, </a:t>
                </a:r>
                <a:r>
                  <a:rPr>
                    <a:latin typeface="Courier"/>
                  </a:rPr>
                  <a:t>tax_rate</a:t>
                </a:r>
                <a:r>
                  <a:rPr/>
                  <a:t>, and </a:t>
                </a:r>
                <a:r>
                  <a:rPr>
                    <a:latin typeface="Courier"/>
                  </a:rPr>
                  <a:t>tip_rate</a:t>
                </a:r>
                <a:r>
                  <a:rPr/>
                  <a:t> are assigned from user input (i.e. using the </a:t>
                </a:r>
                <a:r>
                  <a:rPr>
                    <a:latin typeface="Courier"/>
                  </a:rPr>
                  <a:t>input()</a:t>
                </a:r>
                <a:r>
                  <a:rPr/>
                  <a:t> function and type-casting).</a:t>
                </a:r>
              </a:p>
              <a:p>
                <a:pPr lvl="0" indent="-342900" marL="342900">
                  <a:buAutoNum startAt="5" type="arabicPeriod"/>
                </a:pPr>
                <a:r>
                  <a:rPr/>
                  <a:t>Test the new version of the program to make sure that the receipt information is correct based on the input.</a:t>
                </a:r>
              </a:p>
              <a:p>
                <a:pPr lvl="0" indent="-342900" marL="342900">
                  <a:buAutoNum startAt="5" type="arabicPeriod"/>
                </a:pPr>
                <a:r>
                  <a:rPr/>
                  <a:t>If you haven’t already done so, make sure to add comments explaining how the program works.</a:t>
                </a:r>
              </a:p>
              <a:p>
                <a:pPr lvl="0" indent="-342900" marL="342900">
                  <a:buAutoNum startAt="5" type="arabicPeriod"/>
                </a:pPr>
                <a:r>
                  <a:rPr/>
                  <a:t>Can you display the whole receipt using a single </a:t>
                </a:r>
                <a:r>
                  <a:rPr>
                    <a:latin typeface="Courier"/>
                  </a:rPr>
                  <a:t>print()</a:t>
                </a:r>
                <a:r>
                  <a:rPr/>
                  <a:t> function call?</a:t>
                </a:r>
              </a:p>
              <a:p>
                <a:pPr lvl="0" indent="-342900" marL="342900">
                  <a:buAutoNum startAt="5" type="arabicPeriod"/>
                </a:pPr>
                <a:r>
                  <a:rPr/>
                  <a:t>Did the autograder produce error messages? How might you revise your algorithm and/or program?</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startAt="5" type="arabicPeriod"/>
                </a:pPr>
                <a:r>
                  <a:rPr/>
                  <a:t>Were you able to solve this task? If not, can you think of anything else to try?</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0" marL="0">
                  <a:buNone/>
                </a:pPr>
                <a:r>
                  <a:rPr b="1"/>
                  <a:t>For portfolio submission, insert you printed program pages here.</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21" end="21"/>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3">
                                            <p:txEl>
                                              <p:pRg st="22" end="22"/>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3">
                                            <p:txEl>
                                              <p:pRg st="23" end="23"/>
                                            </p:txEl>
                                          </p:spTgt>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3">
                                            <p:txEl>
                                              <p:pRg st="24" end="24"/>
                                            </p:txEl>
                                          </p:spTgt>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3">
                                            <p:txEl>
                                              <p:pRg st="25" end="25"/>
                                            </p:txEl>
                                          </p:spTgt>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3">
                                            <p:txEl>
                                              <p:pRg st="26" end="26"/>
                                            </p:txEl>
                                          </p:spTgt>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3">
                                            <p:txEl>
                                              <p:pRg st="27" end="27"/>
                                            </p:txEl>
                                          </p:spTgt>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3">
                                            <p:txEl>
                                              <p:pRg st="28" end="28"/>
                                            </p:txEl>
                                          </p:spTgt>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3">
                                            <p:txEl>
                                              <p:pRg st="29" end="29"/>
                                            </p:txEl>
                                          </p:spTgt>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3">
                                            <p:txEl>
                                              <p:pRg st="30" end="30"/>
                                            </p:txEl>
                                          </p:spTgt>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grpId="0" nodeType="clickEffect">
                                  <p:stCondLst>
                                    <p:cond delay="0"/>
                                  </p:stCondLst>
                                  <p:childTnLst>
                                    <p:set>
                                      <p:cBhvr>
                                        <p:cTn id="106" dur="1" fill="hold">
                                          <p:stCondLst>
                                            <p:cond delay="0"/>
                                          </p:stCondLst>
                                        </p:cTn>
                                        <p:tgtEl>
                                          <p:spTgt spid="3">
                                            <p:txEl>
                                              <p:pRg st="31" end="31"/>
                                            </p:txEl>
                                          </p:spTgt>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grpId="0" nodeType="clickEffect">
                                  <p:stCondLst>
                                    <p:cond delay="0"/>
                                  </p:stCondLst>
                                  <p:childTnLst>
                                    <p:set>
                                      <p:cBhvr>
                                        <p:cTn id="110" dur="1" fill="hold">
                                          <p:stCondLst>
                                            <p:cond delay="0"/>
                                          </p:stCondLst>
                                        </p:cTn>
                                        <p:tgtEl>
                                          <p:spTgt spid="3">
                                            <p:txEl>
                                              <p:pRg st="32" end="32"/>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3">
                                            <p:txEl>
                                              <p:pRg st="33" end="33"/>
                                            </p:txEl>
                                          </p:spTgt>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
                                            <p:txEl>
                                              <p:pRg st="34" end="34"/>
                                            </p:txEl>
                                          </p:spTgt>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0" nodeType="clickEffect">
                                  <p:stCondLst>
                                    <p:cond delay="0"/>
                                  </p:stCondLst>
                                  <p:childTnLst>
                                    <p:set>
                                      <p:cBhvr>
                                        <p:cTn id="122" dur="1" fill="hold">
                                          <p:stCondLst>
                                            <p:cond delay="0"/>
                                          </p:stCondLst>
                                        </p:cTn>
                                        <p:tgtEl>
                                          <p:spTgt spid="3">
                                            <p:txEl>
                                              <p:pRg st="35" end="35"/>
                                            </p:txEl>
                                          </p:spTgt>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grpId="0" nodeType="clickEffect">
                                  <p:stCondLst>
                                    <p:cond delay="0"/>
                                  </p:stCondLst>
                                  <p:childTnLst>
                                    <p:set>
                                      <p:cBhvr>
                                        <p:cTn id="126" dur="1" fill="hold">
                                          <p:stCondLst>
                                            <p:cond delay="0"/>
                                          </p:stCondLst>
                                        </p:cTn>
                                        <p:tgtEl>
                                          <p:spTgt spid="3">
                                            <p:txEl>
                                              <p:pRg st="36" end="36"/>
                                            </p:txEl>
                                          </p:spTgt>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ntr" presetSubtype="0" fill="hold" grpId="0" nodeType="clickEffect">
                                  <p:stCondLst>
                                    <p:cond delay="0"/>
                                  </p:stCondLst>
                                  <p:childTnLst>
                                    <p:set>
                                      <p:cBhvr>
                                        <p:cTn id="130" dur="1" fill="hold">
                                          <p:stCondLst>
                                            <p:cond delay="0"/>
                                          </p:stCondLst>
                                        </p:cTn>
                                        <p:tgtEl>
                                          <p:spTgt spid="3">
                                            <p:txEl>
                                              <p:pRg st="37" end="37"/>
                                            </p:txEl>
                                          </p:spTgt>
                                        </p:tgtEl>
                                        <p:attrNameLst>
                                          <p:attrName>style.visibility</p:attrName>
                                        </p:attrNameLst>
                                      </p:cBhvr>
                                      <p:to>
                                        <p:strVal val="visible"/>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grpId="0" nodeType="clickEffect">
                                  <p:stCondLst>
                                    <p:cond delay="0"/>
                                  </p:stCondLst>
                                  <p:childTnLst>
                                    <p:set>
                                      <p:cBhvr>
                                        <p:cTn id="134" dur="1" fill="hold">
                                          <p:stCondLst>
                                            <p:cond delay="0"/>
                                          </p:stCondLst>
                                        </p:cTn>
                                        <p:tgtEl>
                                          <p:spTgt spid="3">
                                            <p:txEl>
                                              <p:pRg st="38" end="3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64498"/>
            <a:ext cx="3008313" cy="364292"/>
          </a:xfrm>
          <a:prstGeom prst="rect">
            <a:avLst/>
          </a:prstGeom>
        </p:spPr>
        <p:txBody>
          <a:bodyPr/>
          <a:lstStyle/>
          <a:p>
            <a:pPr lvl="0" indent="0" marL="0">
              <a:buNone/>
            </a:pPr>
            <a:r>
              <a:rPr/>
              <a:t>A9) Programming practice: Reeborg</a:t>
            </a:r>
          </a:p>
        </p:txBody>
      </p:sp>
      <p:sp>
        <p:nvSpPr>
          <p:cNvPr id="4" name="Text Placeholder 3"/>
          <p:cNvSpPr>
            <a:spLocks noGrp="1"/>
          </p:cNvSpPr>
          <p:nvPr>
            <p:ph idx="2" sz="half" type="body"/>
          </p:nvPr>
        </p:nvSpPr>
        <p:spPr/>
        <p:txBody>
          <a:bodyPr/>
          <a:lstStyle/>
          <a:p>
            <a:pPr lvl="0" indent="-342900" marL="342900">
              <a:buAutoNum startAt="0" type="arabicPeriod"/>
            </a:pPr>
            <a:r>
              <a:rPr/>
              <a:t>Do this part on the Reeborg’s World website.</a:t>
            </a:r>
          </a:p>
          <a:p>
            <a:pPr lvl="0" indent="-342900" marL="342900">
              <a:buAutoNum startAt="0" type="arabicPeriod"/>
            </a:pPr>
            <a:r>
              <a:rPr/>
              <a:t>Download the starter code from the course website.</a:t>
            </a:r>
          </a:p>
          <a:p>
            <a:pPr lvl="1"/>
            <a:r>
              <a:rPr/>
              <a:t>It is one file called: </a:t>
            </a:r>
            <a:r>
              <a:rPr>
                <a:latin typeface="Courier"/>
              </a:rPr>
              <a:t>winding_sandbar.json</a:t>
            </a:r>
          </a:p>
          <a:p>
            <a:pPr lvl="0" indent="-342900" marL="342900">
              <a:buAutoNum startAt="0" type="arabicPeriod"/>
            </a:pPr>
            <a:r>
              <a:rPr/>
              <a:t>Import the starter file winding_sandbar.json into Reeborg.</a:t>
            </a:r>
          </a:p>
          <a:p>
            <a:pPr lvl="1"/>
            <a:r>
              <a:rPr/>
              <a:t>To import a program, open the “Additional options” menu.</a:t>
            </a:r>
          </a:p>
          <a:p>
            <a:pPr lvl="1"/>
            <a:r>
              <a:rPr/>
              <a:t>Then look for the button “Open world from file.”</a:t>
            </a:r>
          </a:p>
          <a:p>
            <a:pPr lvl="1"/>
            <a:r>
              <a:rPr/>
              <a:t>This should show you an environment that looks as follows:</a:t>
            </a:r>
          </a:p>
        </p:txBody>
      </p:sp>
      <p:pic>
        <p:nvPicPr>
          <p:cNvPr descr="images/reeborg_sandbar.png" id="0" name="Picture 1"/>
          <p:cNvPicPr>
            <a:picLocks noGrp="1" noChangeAspect="1"/>
          </p:cNvPicPr>
          <p:nvPr/>
        </p:nvPicPr>
        <p:blipFill>
          <a:blip r:embed="rId2"/>
          <a:stretch>
            <a:fillRect/>
          </a:stretch>
        </p:blipFill>
        <p:spPr bwMode="auto">
          <a:xfrm>
            <a:off x="4953000" y="1727200"/>
            <a:ext cx="2349500" cy="2336800"/>
          </a:xfrm>
          <a:prstGeom prst="rect">
            <a:avLst/>
          </a:prstGeom>
          <a:noFill/>
          <a:ln w="9525">
            <a:noFill/>
            <a:headEnd/>
            <a:tailEnd/>
          </a:ln>
        </p:spPr>
      </p:pic>
      <p:sp>
        <p:nvSpPr>
          <p:cNvPr id="1" name="TextBox 3"/>
          <p:cNvSpPr txBox="1"/>
          <p:nvPr/>
        </p:nvSpPr>
        <p:spPr>
          <a:xfrm>
            <a:off x="3568700" y="4064000"/>
            <a:ext cx="5105400" cy="508000"/>
          </a:xfrm>
          <a:prstGeom prst="rect">
            <a:avLst/>
          </a:prstGeom>
          <a:noFill/>
        </p:spPr>
        <p:txBody>
          <a:bodyPr/>
          <a:lstStyle/>
          <a:p>
            <a:pPr lvl="0" indent="0" marL="0" algn="ctr">
              <a:buNone/>
            </a:pPr>
            <a:r>
              <a:rPr/>
              <a:t>Reeborg Winding Sandbar</a:t>
            </a:r>
          </a:p>
        </p:txBody>
      </p:sp>
      <p:sp>
        <p:nvSpPr>
          <p:cNvPr id="3" name="Content Placeholder 2"/>
          <p:cNvSpPr>
            <a:spLocks noGrp="1"/>
          </p:cNvSpPr>
          <p:nvPr>
            <p:ph idx="1"/>
          </p:nvPr>
        </p:nvSpPr>
        <p:spPr/>
        <p:txBody>
          <a:bodyPr/>
          <a:lstStyle/>
          <a:p>
            <a:pPr lvl="0" indent="-342900" marL="342900">
              <a:buAutoNum startAt="3" type="arabicPeriod"/>
            </a:pPr>
            <a:r>
              <a:rPr/>
              <a:t>What is the goal in this world?</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startAt="3" type="arabicPeriod"/>
            </a:pPr>
            <a:r>
              <a:rPr/>
              <a:t>In english (not code), what is your algorithm for your solution?</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startAt="3" type="arabicPeriod"/>
            </a:pPr>
            <a:r>
              <a:rPr/>
              <a:t>Complete the program so that Reeborg picks up the stars, deposits them in the indicated spots and finishes at the house. Save your program file (not the world file) in a file with the name </a:t>
            </a:r>
            <a:r>
              <a:rPr>
                <a:latin typeface="Courier"/>
              </a:rPr>
              <a:t>winding_sandbar.py</a:t>
            </a:r>
            <a:r>
              <a:rPr/>
              <a:t>.</a:t>
            </a:r>
          </a:p>
          <a:p>
            <a:pPr lvl="1"/>
            <a:r>
              <a:rPr/>
              <a:t>When pair-programming, as you go, add comments throughout indicating who was the “driver” and who was the “navigator” for each chunk.</a:t>
            </a:r>
          </a:p>
          <a:p>
            <a:pPr lvl="0" indent="-342900" marL="342900">
              <a:buAutoNum startAt="3" type="arabicPeriod"/>
            </a:pPr>
            <a:r>
              <a:rPr/>
              <a:t>Share the program between pairs using email or Google drive/</a:t>
            </a:r>
          </a:p>
          <a:p>
            <a:pPr lvl="0" indent="-342900" marL="342900">
              <a:buAutoNum startAt="3" type="arabicPeriod"/>
            </a:pPr>
            <a:r>
              <a:rPr/>
              <a:t>Individually add comments to your code. Explain the different steps and including a header comment that names your partner.</a:t>
            </a:r>
          </a:p>
          <a:p>
            <a:pPr lvl="0" indent="-342900" marL="342900">
              <a:buAutoNum startAt="3" type="arabicPeriod"/>
            </a:pPr>
            <a:r>
              <a:rPr/>
              <a:t>Submit your code on gradescope. Remember to also print it out to submit with your portfolio.</a:t>
            </a:r>
          </a:p>
          <a:p>
            <a:pPr lvl="0" indent="-342900" marL="342900">
              <a:buAutoNum startAt="3" type="arabicPeriod"/>
            </a:pPr>
            <a:r>
              <a:rPr/>
              <a:t>Did the autograder produce error messages? How might you revise your algorithm and/or program?</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startAt="3" type="arabicPeriod"/>
            </a:pPr>
            <a:r>
              <a:rPr/>
              <a:t>Were you able to solve this task? If not, can you think of anything else to try?</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0" marL="0">
              <a:buNone/>
            </a:pPr>
            <a:r>
              <a:rPr b="1"/>
              <a:t>For portfolio submission, insert you printed program pages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
                                            <p:txEl>
                                              <p:pRg st="0" end="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
                                            <p:txEl>
                                              <p:pRg st="1" end="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
                                            <p:txEl>
                                              <p:pRg st="2" end="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
                                            <p:txEl>
                                              <p:pRg st="3" end="3"/>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
                                            <p:txEl>
                                              <p:pRg st="4" end="4"/>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
                                            <p:txEl>
                                              <p:pRg st="5" end="5"/>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
                                            <p:txEl>
                                              <p:pRg st="6" end="6"/>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
                                            <p:txEl>
                                              <p:pRg st="7" end="7"/>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1">
                                            <p:txEl>
                                              <p:pRg st="8" end="8"/>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1">
                                            <p:txEl>
                                              <p:pRg st="9" end="9"/>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1">
                                            <p:txEl>
                                              <p:pRg st="10" end="10"/>
                                            </p:txEl>
                                          </p:spTgt>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1">
                                            <p:txEl>
                                              <p:pRg st="11" end="11"/>
                                            </p:txEl>
                                          </p:spTgt>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1">
                                            <p:txEl>
                                              <p:pRg st="12" end="12"/>
                                            </p:txEl>
                                          </p:spTgt>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1">
                                            <p:txEl>
                                              <p:pRg st="13" end="13"/>
                                            </p:txEl>
                                          </p:spTgt>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1">
                                            <p:txEl>
                                              <p:pRg st="14" end="14"/>
                                            </p:txEl>
                                          </p:spTgt>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1">
                                            <p:txEl>
                                              <p:pRg st="15" end="15"/>
                                            </p:txEl>
                                          </p:spTgt>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1">
                                            <p:txEl>
                                              <p:pRg st="16" end="16"/>
                                            </p:txEl>
                                          </p:spTgt>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1">
                                            <p:txEl>
                                              <p:pRg st="17" end="17"/>
                                            </p:txEl>
                                          </p:spTgt>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grpId="0" nodeType="clickEffect">
                                  <p:stCondLst>
                                    <p:cond delay="0"/>
                                  </p:stCondLst>
                                  <p:childTnLst>
                                    <p:set>
                                      <p:cBhvr>
                                        <p:cTn id="106" dur="1" fill="hold">
                                          <p:stCondLst>
                                            <p:cond delay="0"/>
                                          </p:stCondLst>
                                        </p:cTn>
                                        <p:tgtEl>
                                          <p:spTgt spid="1">
                                            <p:txEl>
                                              <p:pRg st="18" end="18"/>
                                            </p:txEl>
                                          </p:spTgt>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grpId="0" nodeType="clickEffect">
                                  <p:stCondLst>
                                    <p:cond delay="0"/>
                                  </p:stCondLst>
                                  <p:childTnLst>
                                    <p:set>
                                      <p:cBhvr>
                                        <p:cTn id="110" dur="1" fill="hold">
                                          <p:stCondLst>
                                            <p:cond delay="0"/>
                                          </p:stCondLst>
                                        </p:cTn>
                                        <p:tgtEl>
                                          <p:spTgt spid="1">
                                            <p:txEl>
                                              <p:pRg st="19" end="19"/>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1">
                                            <p:txEl>
                                              <p:pRg st="20" end="20"/>
                                            </p:txEl>
                                          </p:spTgt>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1">
                                            <p:txEl>
                                              <p:pRg st="21" end="21"/>
                                            </p:txEl>
                                          </p:spTgt>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0" nodeType="clickEffect">
                                  <p:stCondLst>
                                    <p:cond delay="0"/>
                                  </p:stCondLst>
                                  <p:childTnLst>
                                    <p:set>
                                      <p:cBhvr>
                                        <p:cTn id="122" dur="1" fill="hold">
                                          <p:stCondLst>
                                            <p:cond delay="0"/>
                                          </p:stCondLst>
                                        </p:cTn>
                                        <p:tgtEl>
                                          <p:spTgt spid="1">
                                            <p:txEl>
                                              <p:pRg st="22" end="22"/>
                                            </p:txEl>
                                          </p:spTgt>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grpId="0" nodeType="clickEffect">
                                  <p:stCondLst>
                                    <p:cond delay="0"/>
                                  </p:stCondLst>
                                  <p:childTnLst>
                                    <p:set>
                                      <p:cBhvr>
                                        <p:cTn id="126" dur="1" fill="hold">
                                          <p:stCondLst>
                                            <p:cond delay="0"/>
                                          </p:stCondLst>
                                        </p:cTn>
                                        <p:tgtEl>
                                          <p:spTgt spid="1">
                                            <p:txEl>
                                              <p:pRg st="23" end="23"/>
                                            </p:txEl>
                                          </p:spTgt>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ntr" presetSubtype="0" fill="hold" grpId="0" nodeType="clickEffect">
                                  <p:stCondLst>
                                    <p:cond delay="0"/>
                                  </p:stCondLst>
                                  <p:childTnLst>
                                    <p:set>
                                      <p:cBhvr>
                                        <p:cTn id="130" dur="1" fill="hold">
                                          <p:stCondLst>
                                            <p:cond delay="0"/>
                                          </p:stCondLst>
                                        </p:cTn>
                                        <p:tgtEl>
                                          <p:spTgt spid="1">
                                            <p:txEl>
                                              <p:pRg st="24" end="24"/>
                                            </p:txEl>
                                          </p:spTgt>
                                        </p:tgtEl>
                                        <p:attrNameLst>
                                          <p:attrName>style.visibility</p:attrName>
                                        </p:attrNameLst>
                                      </p:cBhvr>
                                      <p:to>
                                        <p:strVal val="visible"/>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grpId="0" nodeType="clickEffect">
                                  <p:stCondLst>
                                    <p:cond delay="0"/>
                                  </p:stCondLst>
                                  <p:childTnLst>
                                    <p:set>
                                      <p:cBhvr>
                                        <p:cTn id="134" dur="1" fill="hold">
                                          <p:stCondLst>
                                            <p:cond delay="0"/>
                                          </p:stCondLst>
                                        </p:cTn>
                                        <p:tgtEl>
                                          <p:spTgt spid="1">
                                            <p:txEl>
                                              <p:pRg st="25" end="25"/>
                                            </p:txEl>
                                          </p:spTgt>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ntr" presetSubtype="0" fill="hold" grpId="0" nodeType="clickEffect">
                                  <p:stCondLst>
                                    <p:cond delay="0"/>
                                  </p:stCondLst>
                                  <p:childTnLst>
                                    <p:set>
                                      <p:cBhvr>
                                        <p:cTn id="138" dur="1" fill="hold">
                                          <p:stCondLst>
                                            <p:cond delay="0"/>
                                          </p:stCondLst>
                                        </p:cTn>
                                        <p:tgtEl>
                                          <p:spTgt spid="1">
                                            <p:txEl>
                                              <p:pRg st="26" end="26"/>
                                            </p:txEl>
                                          </p:spTgt>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1">
                                            <p:txEl>
                                              <p:pRg st="27" end="27"/>
                                            </p:txEl>
                                          </p:spTgt>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1" presetClass="entr" presetSubtype="0" fill="hold" grpId="0" nodeType="clickEffect">
                                  <p:stCondLst>
                                    <p:cond delay="0"/>
                                  </p:stCondLst>
                                  <p:childTnLst>
                                    <p:set>
                                      <p:cBhvr>
                                        <p:cTn id="146" dur="1" fill="hold">
                                          <p:stCondLst>
                                            <p:cond delay="0"/>
                                          </p:stCondLst>
                                        </p:cTn>
                                        <p:tgtEl>
                                          <p:spTgt spid="1">
                                            <p:txEl>
                                              <p:pRg st="28" end="28"/>
                                            </p:txEl>
                                          </p:spTgt>
                                        </p:tgtEl>
                                        <p:attrNameLst>
                                          <p:attrName>style.visibility</p:attrName>
                                        </p:attrNameLst>
                                      </p:cBhvr>
                                      <p:to>
                                        <p:strVal val="visible"/>
                                      </p:to>
                                    </p:set>
                                  </p:childTnLst>
                                </p:cTn>
                              </p:par>
                            </p:childTnLst>
                          </p:cTn>
                        </p:par>
                      </p:childTnLst>
                    </p:cTn>
                  </p:par>
                  <p:par>
                    <p:cTn id="147" fill="hold">
                      <p:stCondLst>
                        <p:cond delay="indefinite"/>
                      </p:stCondLst>
                      <p:childTnLst>
                        <p:par>
                          <p:cTn id="148" fill="hold">
                            <p:stCondLst>
                              <p:cond delay="0"/>
                            </p:stCondLst>
                            <p:childTnLst>
                              <p:par>
                                <p:cTn id="149" presetID="1" presetClass="entr" presetSubtype="0" fill="hold" grpId="0" nodeType="clickEffect">
                                  <p:stCondLst>
                                    <p:cond delay="0"/>
                                  </p:stCondLst>
                                  <p:childTnLst>
                                    <p:set>
                                      <p:cBhvr>
                                        <p:cTn id="150" dur="1" fill="hold">
                                          <p:stCondLst>
                                            <p:cond delay="0"/>
                                          </p:stCondLst>
                                        </p:cTn>
                                        <p:tgtEl>
                                          <p:spTgt spid="1">
                                            <p:txEl>
                                              <p:pRg st="29" end="29"/>
                                            </p:txEl>
                                          </p:spTgt>
                                        </p:tgtEl>
                                        <p:attrNameLst>
                                          <p:attrName>style.visibility</p:attrName>
                                        </p:attrNameLst>
                                      </p:cBhvr>
                                      <p:to>
                                        <p:strVal val="visible"/>
                                      </p:to>
                                    </p:set>
                                  </p:childTnLst>
                                </p:cTn>
                              </p:par>
                            </p:childTnLst>
                          </p:cTn>
                        </p:par>
                      </p:childTnLst>
                    </p:cTn>
                  </p:par>
                  <p:par>
                    <p:cTn id="151" fill="hold">
                      <p:stCondLst>
                        <p:cond delay="indefinite"/>
                      </p:stCondLst>
                      <p:childTnLst>
                        <p:par>
                          <p:cTn id="152" fill="hold">
                            <p:stCondLst>
                              <p:cond delay="0"/>
                            </p:stCondLst>
                            <p:childTnLst>
                              <p:par>
                                <p:cTn id="153" presetID="1" presetClass="entr" presetSubtype="0" fill="hold" grpId="0" nodeType="clickEffect">
                                  <p:stCondLst>
                                    <p:cond delay="0"/>
                                  </p:stCondLst>
                                  <p:childTnLst>
                                    <p:set>
                                      <p:cBhvr>
                                        <p:cTn id="154" dur="1" fill="hold">
                                          <p:stCondLst>
                                            <p:cond delay="0"/>
                                          </p:stCondLst>
                                        </p:cTn>
                                        <p:tgtEl>
                                          <p:spTgt spid="1">
                                            <p:txEl>
                                              <p:pRg st="30" end="30"/>
                                            </p:txEl>
                                          </p:spTgt>
                                        </p:tgtEl>
                                        <p:attrNameLst>
                                          <p:attrName>style.visibility</p:attrName>
                                        </p:attrNameLst>
                                      </p:cBhvr>
                                      <p:to>
                                        <p:strVal val="visible"/>
                                      </p:to>
                                    </p:set>
                                  </p:childTnLst>
                                </p:cTn>
                              </p:par>
                            </p:childTnLst>
                          </p:cTn>
                        </p:par>
                      </p:childTnLst>
                    </p:cTn>
                  </p:par>
                  <p:par>
                    <p:cTn id="155" fill="hold">
                      <p:stCondLst>
                        <p:cond delay="indefinite"/>
                      </p:stCondLst>
                      <p:childTnLst>
                        <p:par>
                          <p:cTn id="156" fill="hold">
                            <p:stCondLst>
                              <p:cond delay="0"/>
                            </p:stCondLst>
                            <p:childTnLst>
                              <p:par>
                                <p:cTn id="157" presetID="1" presetClass="entr" presetSubtype="0" fill="hold" grpId="0" nodeType="clickEffect">
                                  <p:stCondLst>
                                    <p:cond delay="0"/>
                                  </p:stCondLst>
                                  <p:childTnLst>
                                    <p:set>
                                      <p:cBhvr>
                                        <p:cTn id="158" dur="1" fill="hold">
                                          <p:stCondLst>
                                            <p:cond delay="0"/>
                                          </p:stCondLst>
                                        </p:cTn>
                                        <p:tgtEl>
                                          <p:spTgt spid="1">
                                            <p:txEl>
                                              <p:pRg st="31" end="31"/>
                                            </p:txEl>
                                          </p:spTgt>
                                        </p:tgtEl>
                                        <p:attrNameLst>
                                          <p:attrName>style.visibility</p:attrName>
                                        </p:attrNameLst>
                                      </p:cBhvr>
                                      <p:to>
                                        <p:strVal val="visible"/>
                                      </p:to>
                                    </p:set>
                                  </p:childTnLst>
                                </p:cTn>
                              </p:par>
                            </p:childTnLst>
                          </p:cTn>
                        </p:par>
                      </p:childTnLst>
                    </p:cTn>
                  </p:par>
                  <p:par>
                    <p:cTn id="159" fill="hold">
                      <p:stCondLst>
                        <p:cond delay="indefinite"/>
                      </p:stCondLst>
                      <p:childTnLst>
                        <p:par>
                          <p:cTn id="160" fill="hold">
                            <p:stCondLst>
                              <p:cond delay="0"/>
                            </p:stCondLst>
                            <p:childTnLst>
                              <p:par>
                                <p:cTn id="161" presetID="1" presetClass="entr" presetSubtype="0" fill="hold" grpId="0" nodeType="clickEffect">
                                  <p:stCondLst>
                                    <p:cond delay="0"/>
                                  </p:stCondLst>
                                  <p:childTnLst>
                                    <p:set>
                                      <p:cBhvr>
                                        <p:cTn id="162" dur="1" fill="hold">
                                          <p:stCondLst>
                                            <p:cond delay="0"/>
                                          </p:stCondLst>
                                        </p:cTn>
                                        <p:tgtEl>
                                          <p:spTgt spid="1">
                                            <p:txEl>
                                              <p:pRg st="32" end="32"/>
                                            </p:txEl>
                                          </p:spTgt>
                                        </p:tgtEl>
                                        <p:attrNameLst>
                                          <p:attrName>style.visibility</p:attrName>
                                        </p:attrNameLst>
                                      </p:cBhvr>
                                      <p:to>
                                        <p:strVal val="visible"/>
                                      </p:to>
                                    </p:set>
                                  </p:childTnLst>
                                </p:cTn>
                              </p:par>
                            </p:childTnLst>
                          </p:cTn>
                        </p:par>
                      </p:childTnLst>
                    </p:cTn>
                  </p:par>
                  <p:par>
                    <p:cTn id="163" fill="hold">
                      <p:stCondLst>
                        <p:cond delay="indefinite"/>
                      </p:stCondLst>
                      <p:childTnLst>
                        <p:par>
                          <p:cTn id="164" fill="hold">
                            <p:stCondLst>
                              <p:cond delay="0"/>
                            </p:stCondLst>
                            <p:childTnLst>
                              <p:par>
                                <p:cTn id="165" presetID="1" presetClass="entr" presetSubtype="0" fill="hold" grpId="0" nodeType="clickEffect">
                                  <p:stCondLst>
                                    <p:cond delay="0"/>
                                  </p:stCondLst>
                                  <p:childTnLst>
                                    <p:set>
                                      <p:cBhvr>
                                        <p:cTn id="166" dur="1" fill="hold">
                                          <p:stCondLst>
                                            <p:cond delay="0"/>
                                          </p:stCondLst>
                                        </p:cTn>
                                        <p:tgtEl>
                                          <p:spTgt spid="1">
                                            <p:txEl>
                                              <p:pRg st="33" end="3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1"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64498"/>
            <a:ext cx="3008313" cy="364292"/>
          </a:xfrm>
          <a:prstGeom prst="rect">
            <a:avLst/>
          </a:prstGeom>
        </p:spPr>
        <p:txBody>
          <a:bodyPr/>
          <a:lstStyle/>
          <a:p>
            <a:pPr lvl="0" indent="0" marL="0">
              <a:buNone/>
            </a:pPr>
            <a:r>
              <a:rPr/>
              <a:t>A10) Programming Practice: Turtle in Python</a:t>
            </a:r>
          </a:p>
        </p:txBody>
      </p:sp>
      <p:sp>
        <p:nvSpPr>
          <p:cNvPr id="4" name="Text Placeholder 3"/>
          <p:cNvSpPr>
            <a:spLocks noGrp="1"/>
          </p:cNvSpPr>
          <p:nvPr>
            <p:ph idx="2" sz="half" type="body"/>
          </p:nvPr>
        </p:nvSpPr>
        <p:spPr/>
        <p:txBody>
          <a:bodyPr/>
          <a:lstStyle/>
          <a:p>
            <a:pPr lvl="0" indent="-342900" marL="342900">
              <a:buAutoNum startAt="0" type="arabicPeriod"/>
            </a:pPr>
            <a:r>
              <a:rPr/>
              <a:t>Your goal is to write a program that uses the turtle module to draw the following picture.</a:t>
            </a:r>
          </a:p>
        </p:txBody>
      </p:sp>
      <p:pic>
        <p:nvPicPr>
          <p:cNvPr descr="images/turtle_squares_bw.png" id="0" name="Picture 1"/>
          <p:cNvPicPr>
            <a:picLocks noGrp="1" noChangeAspect="1"/>
          </p:cNvPicPr>
          <p:nvPr/>
        </p:nvPicPr>
        <p:blipFill>
          <a:blip r:embed="rId2"/>
          <a:stretch>
            <a:fillRect/>
          </a:stretch>
        </p:blipFill>
        <p:spPr bwMode="auto">
          <a:xfrm>
            <a:off x="4521200" y="1727200"/>
            <a:ext cx="3200400" cy="2336800"/>
          </a:xfrm>
          <a:prstGeom prst="rect">
            <a:avLst/>
          </a:prstGeom>
          <a:noFill/>
          <a:ln w="9525">
            <a:noFill/>
            <a:headEnd/>
            <a:tailEnd/>
          </a:ln>
        </p:spPr>
      </p:pic>
      <p:sp>
        <p:nvSpPr>
          <p:cNvPr id="1" name="TextBox 3"/>
          <p:cNvSpPr txBox="1"/>
          <p:nvPr/>
        </p:nvSpPr>
        <p:spPr>
          <a:xfrm>
            <a:off x="3568700" y="4064000"/>
            <a:ext cx="5105400" cy="508000"/>
          </a:xfrm>
          <a:prstGeom prst="rect">
            <a:avLst/>
          </a:prstGeom>
          <a:noFill/>
        </p:spPr>
        <p:txBody>
          <a:bodyPr/>
          <a:lstStyle/>
          <a:p>
            <a:pPr lvl="0" indent="0" marL="0" algn="ctr">
              <a:buNone/>
            </a:pPr>
            <a:r>
              <a:rPr/>
              <a:t>Turtle Squares</a:t>
            </a:r>
          </a:p>
        </p:txBody>
      </p:sp>
      <p:sp>
        <p:nvSpPr>
          <p:cNvPr id="3" name="Content Placeholder 2"/>
          <p:cNvSpPr>
            <a:spLocks noGrp="1"/>
          </p:cNvSpPr>
          <p:nvPr>
            <p:ph idx="1"/>
          </p:nvPr>
        </p:nvSpPr>
        <p:spPr/>
        <p:txBody>
          <a:bodyPr/>
          <a:lstStyle/>
          <a:p>
            <a:pPr lvl="0" indent="-342900" marL="342900">
              <a:buAutoNum type="arabicPeriod"/>
            </a:pPr>
            <a:r>
              <a:rPr/>
              <a:t>In english (not code), what is your algorithm for your solution?</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type="arabicPeriod"/>
            </a:pPr>
            <a:r>
              <a:rPr/>
              <a:t>Now, in IDLE, write your program in Python. Save your program in a file called squares.py</a:t>
            </a:r>
          </a:p>
          <a:p>
            <a:pPr lvl="0" indent="-342900" marL="342900">
              <a:buAutoNum type="arabicPeriod"/>
            </a:pPr>
            <a:r>
              <a:rPr/>
              <a:t>Think about how you would modify your program so that it draws the same three squares, but each of them in a different color.</a:t>
            </a:r>
          </a:p>
        </p:txBody>
      </p:sp>
      <p:pic>
        <p:nvPicPr>
          <p:cNvPr descr="images/turtle_squares_color.png" id="0" name="Picture 1"/>
          <p:cNvPicPr>
            <a:picLocks noGrp="1" noChangeAspect="1"/>
          </p:cNvPicPr>
          <p:nvPr/>
        </p:nvPicPr>
        <p:blipFill>
          <a:blip r:embed="rId3"/>
          <a:stretch>
            <a:fillRect/>
          </a:stretch>
        </p:blipFill>
        <p:spPr bwMode="auto">
          <a:xfrm>
            <a:off x="4406900" y="1727200"/>
            <a:ext cx="3429000" cy="2336800"/>
          </a:xfrm>
          <a:prstGeom prst="rect">
            <a:avLst/>
          </a:prstGeom>
          <a:noFill/>
          <a:ln w="9525">
            <a:noFill/>
            <a:headEnd/>
            <a:tailEnd/>
          </a:ln>
        </p:spPr>
      </p:pic>
      <p:sp>
        <p:nvSpPr>
          <p:cNvPr id="1" name="TextBox 3"/>
          <p:cNvSpPr txBox="1"/>
          <p:nvPr/>
        </p:nvSpPr>
        <p:spPr>
          <a:xfrm>
            <a:off x="3568700" y="4064000"/>
            <a:ext cx="5105400" cy="508000"/>
          </a:xfrm>
          <a:prstGeom prst="rect">
            <a:avLst/>
          </a:prstGeom>
          <a:noFill/>
        </p:spPr>
        <p:txBody>
          <a:bodyPr/>
          <a:lstStyle/>
          <a:p>
            <a:pPr lvl="0" indent="0" marL="0" algn="ctr">
              <a:buNone/>
            </a:pPr>
            <a:r>
              <a:rPr/>
              <a:t>Turtle Squares in Color</a:t>
            </a:r>
          </a:p>
        </p:txBody>
      </p:sp>
      <p:sp>
        <p:nvSpPr>
          <p:cNvPr id="3" name="Content Placeholder 2"/>
          <p:cNvSpPr>
            <a:spLocks noGrp="1"/>
          </p:cNvSpPr>
          <p:nvPr>
            <p:ph idx="1"/>
          </p:nvPr>
        </p:nvSpPr>
        <p:spPr/>
        <p:txBody>
          <a:bodyPr/>
          <a:lstStyle/>
          <a:p>
            <a:pPr lvl="0" indent="-342900" marL="342900">
              <a:buAutoNum startAt="3" type="arabicPeriod"/>
            </a:pPr>
            <a:r>
              <a:rPr/>
              <a:t>(cont.) In english (not code), what is your algorithm for your solution?</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startAt="3" type="arabicPeriod"/>
            </a:pPr>
            <a:r>
              <a:rPr/>
              <a:t>Now edit your previous program to implement your new algorithm. Don’t forget to add comments to your code to help human readers. Save your program in a file called colored_squares.py.</a:t>
            </a:r>
          </a:p>
          <a:p>
            <a:pPr lvl="0" indent="-342900" marL="342900">
              <a:buAutoNum startAt="3" type="arabicPeriod"/>
            </a:pPr>
            <a:r>
              <a:rPr/>
              <a:t>Submit your code on gradescope. Remember to also print it out to submit with your portfolio.</a:t>
            </a:r>
          </a:p>
          <a:p>
            <a:pPr lvl="0" indent="-342900" marL="342900">
              <a:buAutoNum startAt="3" type="arabicPeriod"/>
            </a:pPr>
            <a:r>
              <a:rPr/>
              <a:t>Did the autograder produce error messages? How might you revise your algorithm and/or program?</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startAt="3" type="arabicPeriod"/>
            </a:pPr>
            <a:r>
              <a:rPr/>
              <a:t>Were you able to solve this task? If not, can you think of anything else to try?</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0" marL="0">
              <a:buNone/>
            </a:pPr>
            <a:r>
              <a:rPr b="1"/>
              <a:t>For portfolio submission, insert you printed program pages 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
                                            <p:txEl>
                                              <p:pRg st="5" end="5"/>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
                                            <p:txEl>
                                              <p:pRg st="6" end="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
                                            <p:txEl>
                                              <p:pRg st="7" end="7"/>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
                                            <p:txEl>
                                              <p:pRg st="8" end="8"/>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0">
                                            <p:txEl>
                                              <p:pRg st="0" end="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0">
                                            <p:txEl>
                                              <p:pRg st="1" end="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0">
                                            <p:txEl>
                                              <p:pRg st="2" end="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0">
                                            <p:txEl>
                                              <p:pRg st="3" end="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0">
                                            <p:txEl>
                                              <p:pRg st="4" end="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0">
                                            <p:txEl>
                                              <p:pRg st="5" end="5"/>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0">
                                            <p:txEl>
                                              <p:pRg st="6" end="6"/>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0">
                                            <p:txEl>
                                              <p:pRg st="7" end="7"/>
                                            </p:txEl>
                                          </p:spTgt>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0">
                                            <p:txEl>
                                              <p:pRg st="8" end="8"/>
                                            </p:txEl>
                                          </p:spTgt>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0">
                                            <p:txEl>
                                              <p:pRg st="9" end="9"/>
                                            </p:txEl>
                                          </p:spTgt>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0">
                                            <p:txEl>
                                              <p:pRg st="10" end="10"/>
                                            </p:txEl>
                                          </p:spTgt>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0">
                                            <p:txEl>
                                              <p:pRg st="11" end="11"/>
                                            </p:txEl>
                                          </p:spTgt>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0">
                                            <p:txEl>
                                              <p:pRg st="12" end="12"/>
                                            </p:txEl>
                                          </p:spTgt>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0">
                                            <p:txEl>
                                              <p:pRg st="13" end="13"/>
                                            </p:txEl>
                                          </p:spTgt>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0">
                                            <p:txEl>
                                              <p:pRg st="14" end="14"/>
                                            </p:txEl>
                                          </p:spTgt>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grpId="0" nodeType="clickEffect">
                                  <p:stCondLst>
                                    <p:cond delay="0"/>
                                  </p:stCondLst>
                                  <p:childTnLst>
                                    <p:set>
                                      <p:cBhvr>
                                        <p:cTn id="106" dur="1" fill="hold">
                                          <p:stCondLst>
                                            <p:cond delay="0"/>
                                          </p:stCondLst>
                                        </p:cTn>
                                        <p:tgtEl>
                                          <p:spTgt spid="0">
                                            <p:txEl>
                                              <p:pRg st="15" end="15"/>
                                            </p:txEl>
                                          </p:spTgt>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grpId="0" nodeType="clickEffect">
                                  <p:stCondLst>
                                    <p:cond delay="0"/>
                                  </p:stCondLst>
                                  <p:childTnLst>
                                    <p:set>
                                      <p:cBhvr>
                                        <p:cTn id="110" dur="1" fill="hold">
                                          <p:stCondLst>
                                            <p:cond delay="0"/>
                                          </p:stCondLst>
                                        </p:cTn>
                                        <p:tgtEl>
                                          <p:spTgt spid="0">
                                            <p:txEl>
                                              <p:pRg st="16" end="16"/>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0">
                                            <p:txEl>
                                              <p:pRg st="17" end="17"/>
                                            </p:txEl>
                                          </p:spTgt>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0">
                                            <p:txEl>
                                              <p:pRg st="18" end="18"/>
                                            </p:txEl>
                                          </p:spTgt>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0" nodeType="clickEffect">
                                  <p:stCondLst>
                                    <p:cond delay="0"/>
                                  </p:stCondLst>
                                  <p:childTnLst>
                                    <p:set>
                                      <p:cBhvr>
                                        <p:cTn id="122" dur="1" fill="hold">
                                          <p:stCondLst>
                                            <p:cond delay="0"/>
                                          </p:stCondLst>
                                        </p:cTn>
                                        <p:tgtEl>
                                          <p:spTgt spid="0">
                                            <p:txEl>
                                              <p:pRg st="19" end="19"/>
                                            </p:txEl>
                                          </p:spTgt>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grpId="0" nodeType="clickEffect">
                                  <p:stCondLst>
                                    <p:cond delay="0"/>
                                  </p:stCondLst>
                                  <p:childTnLst>
                                    <p:set>
                                      <p:cBhvr>
                                        <p:cTn id="126" dur="1" fill="hold">
                                          <p:stCondLst>
                                            <p:cond delay="0"/>
                                          </p:stCondLst>
                                        </p:cTn>
                                        <p:tgtEl>
                                          <p:spTgt spid="0">
                                            <p:txEl>
                                              <p:pRg st="20" end="20"/>
                                            </p:txEl>
                                          </p:spTgt>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ntr" presetSubtype="0" fill="hold" grpId="0" nodeType="clickEffect">
                                  <p:stCondLst>
                                    <p:cond delay="0"/>
                                  </p:stCondLst>
                                  <p:childTnLst>
                                    <p:set>
                                      <p:cBhvr>
                                        <p:cTn id="130" dur="1" fill="hold">
                                          <p:stCondLst>
                                            <p:cond delay="0"/>
                                          </p:stCondLst>
                                        </p:cTn>
                                        <p:tgtEl>
                                          <p:spTgt spid="0">
                                            <p:txEl>
                                              <p:pRg st="21" end="21"/>
                                            </p:txEl>
                                          </p:spTgt>
                                        </p:tgtEl>
                                        <p:attrNameLst>
                                          <p:attrName>style.visibility</p:attrName>
                                        </p:attrNameLst>
                                      </p:cBhvr>
                                      <p:to>
                                        <p:strVal val="visible"/>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grpId="0" nodeType="clickEffect">
                                  <p:stCondLst>
                                    <p:cond delay="0"/>
                                  </p:stCondLst>
                                  <p:childTnLst>
                                    <p:set>
                                      <p:cBhvr>
                                        <p:cTn id="134" dur="1" fill="hold">
                                          <p:stCondLst>
                                            <p:cond delay="0"/>
                                          </p:stCondLst>
                                        </p:cTn>
                                        <p:tgtEl>
                                          <p:spTgt spid="0">
                                            <p:txEl>
                                              <p:pRg st="22" end="22"/>
                                            </p:txEl>
                                          </p:spTgt>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ntr" presetSubtype="0" fill="hold" grpId="0" nodeType="clickEffect">
                                  <p:stCondLst>
                                    <p:cond delay="0"/>
                                  </p:stCondLst>
                                  <p:childTnLst>
                                    <p:set>
                                      <p:cBhvr>
                                        <p:cTn id="138" dur="1" fill="hold">
                                          <p:stCondLst>
                                            <p:cond delay="0"/>
                                          </p:stCondLst>
                                        </p:cTn>
                                        <p:tgtEl>
                                          <p:spTgt spid="0">
                                            <p:txEl>
                                              <p:pRg st="23" end="2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1" grpId="0" uiExpand="1" build="p"/>
      <p:bldP spid="0"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83297"/>
            <a:ext cx="8229600" cy="857250"/>
          </a:xfrm>
          <a:prstGeom prst="rect">
            <a:avLst/>
          </a:prstGeom>
        </p:spPr>
        <p:txBody>
          <a:bodyPr/>
          <a:lstStyle/>
          <a:p>
            <a:pPr lvl="0" indent="0" marL="0">
              <a:buNone/>
            </a:pPr>
            <a:r>
              <a:rPr/>
              <a:t>B1: Share-out</a:t>
            </a:r>
          </a:p>
        </p:txBody>
      </p:sp>
      <p:sp>
        <p:nvSpPr>
          <p:cNvPr id="3" name="Content Placeholder 2"/>
          <p:cNvSpPr>
            <a:spLocks noGrp="1"/>
          </p:cNvSpPr>
          <p:nvPr>
            <p:ph idx="1"/>
          </p:nvPr>
        </p:nvSpPr>
        <p:spPr/>
        <p:txBody>
          <a:bodyPr/>
          <a:lstStyle/>
          <a:p>
            <a:pPr lvl="0" indent="-342900" marL="342900">
              <a:buAutoNum startAt="0" type="arabicPeriod"/>
            </a:pPr>
            <a:r>
              <a:rPr/>
              <a:t>Did you share-out this week? If not, and if you would like to make up your credit, where in the upcoming schedule would you like to be added?</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startAt="0" type="arabicPeriod"/>
            </a:pPr>
            <a:r>
              <a:rPr/>
              <a:t>For which activity did you share-out?</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startAt="0" type="arabicPeriod"/>
            </a:pPr>
            <a:r>
              <a:rPr/>
              <a:t>What was the solution you shared?</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startAt="0" type="arabicPeriod"/>
            </a:pPr>
            <a:r>
              <a:rPr/>
              <a:t>If any, what changes did you make to your solution in response to questions or discussion?</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3">
                                            <p:txEl>
                                              <p:pRg st="21" end="21"/>
                                            </p:txEl>
                                          </p:spTgt>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3">
                                            <p:txEl>
                                              <p:pRg st="22" end="22"/>
                                            </p:txEl>
                                          </p:spTgt>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3">
                                            <p:txEl>
                                              <p:pRg st="23" end="23"/>
                                            </p:txEl>
                                          </p:spTgt>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3">
                                            <p:txEl>
                                              <p:pRg st="24" end="24"/>
                                            </p:txEl>
                                          </p:spTgt>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grpId="0" nodeType="clickEffect">
                                  <p:stCondLst>
                                    <p:cond delay="0"/>
                                  </p:stCondLst>
                                  <p:childTnLst>
                                    <p:set>
                                      <p:cBhvr>
                                        <p:cTn id="106" dur="1" fill="hold">
                                          <p:stCondLst>
                                            <p:cond delay="0"/>
                                          </p:stCondLst>
                                        </p:cTn>
                                        <p:tgtEl>
                                          <p:spTgt spid="3">
                                            <p:txEl>
                                              <p:pRg st="25" end="25"/>
                                            </p:txEl>
                                          </p:spTgt>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grpId="0" nodeType="clickEffect">
                                  <p:stCondLst>
                                    <p:cond delay="0"/>
                                  </p:stCondLst>
                                  <p:childTnLst>
                                    <p:set>
                                      <p:cBhvr>
                                        <p:cTn id="110" dur="1" fill="hold">
                                          <p:stCondLst>
                                            <p:cond delay="0"/>
                                          </p:stCondLst>
                                        </p:cTn>
                                        <p:tgtEl>
                                          <p:spTgt spid="3">
                                            <p:txEl>
                                              <p:pRg st="26" end="26"/>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3">
                                            <p:txEl>
                                              <p:pRg st="27" end="27"/>
                                            </p:txEl>
                                          </p:spTgt>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
                                            <p:txEl>
                                              <p:pRg st="28" end="28"/>
                                            </p:txEl>
                                          </p:spTgt>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0" nodeType="clickEffect">
                                  <p:stCondLst>
                                    <p:cond delay="0"/>
                                  </p:stCondLst>
                                  <p:childTnLst>
                                    <p:set>
                                      <p:cBhvr>
                                        <p:cTn id="122" dur="1" fill="hold">
                                          <p:stCondLst>
                                            <p:cond delay="0"/>
                                          </p:stCondLst>
                                        </p:cTn>
                                        <p:tgtEl>
                                          <p:spTgt spid="3">
                                            <p:txEl>
                                              <p:pRg st="29" end="2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83297"/>
            <a:ext cx="8229600" cy="857250"/>
          </a:xfrm>
          <a:prstGeom prst="rect">
            <a:avLst/>
          </a:prstGeom>
        </p:spPr>
        <p:txBody>
          <a:bodyPr/>
          <a:lstStyle/>
          <a:p>
            <a:pPr lvl="0" indent="0" marL="0">
              <a:buNone/>
            </a:pPr>
            <a:r>
              <a:rPr/>
              <a:t>B2: Share-out 2 (optional, for make-ups)</a:t>
            </a:r>
          </a:p>
        </p:txBody>
      </p:sp>
      <p:sp>
        <p:nvSpPr>
          <p:cNvPr id="3" name="Content Placeholder 2"/>
          <p:cNvSpPr>
            <a:spLocks noGrp="1"/>
          </p:cNvSpPr>
          <p:nvPr>
            <p:ph idx="1"/>
          </p:nvPr>
        </p:nvSpPr>
        <p:spPr/>
        <p:txBody>
          <a:bodyPr/>
          <a:lstStyle/>
          <a:p>
            <a:pPr lvl="0" indent="-342900" marL="342900">
              <a:buAutoNum startAt="0" type="arabicPeriod"/>
            </a:pPr>
            <a:r>
              <a:rPr/>
              <a:t>Did you share-out this week? If not, and if you would like to make up your credit, where in the upcoming schedule would you like to be added?</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startAt="0" type="arabicPeriod"/>
            </a:pPr>
            <a:r>
              <a:rPr/>
              <a:t>For which activity did you share-out?</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startAt="0" type="arabicPeriod"/>
            </a:pPr>
            <a:r>
              <a:rPr/>
              <a:t>What was the solution you shared?</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0" indent="-342900" marL="342900">
              <a:buAutoNum startAt="0" type="arabicPeriod"/>
            </a:pPr>
            <a:r>
              <a:rPr/>
              <a:t>If any, what changes did you make to your solution in response to questions or discussion?</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a:p>
            <a:pPr lvl="1" indent="0" marL="342900">
              <a:buNone/>
            </a:pP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3">
                                            <p:txEl>
                                              <p:pRg st="14" end="1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3">
                                            <p:txEl>
                                              <p:pRg st="21" end="21"/>
                                            </p:txEl>
                                          </p:spTgt>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3">
                                            <p:txEl>
                                              <p:pRg st="22" end="22"/>
                                            </p:txEl>
                                          </p:spTgt>
                                        </p:tgtEl>
                                        <p:attrNameLst>
                                          <p:attrName>style.visibility</p:attrName>
                                        </p:attrNameLst>
                                      </p:cBhvr>
                                      <p:to>
                                        <p:strVal val="visible"/>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3">
                                            <p:txEl>
                                              <p:pRg st="23" end="23"/>
                                            </p:txEl>
                                          </p:spTgt>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3">
                                            <p:txEl>
                                              <p:pRg st="24" end="24"/>
                                            </p:txEl>
                                          </p:spTgt>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grpId="0" nodeType="clickEffect">
                                  <p:stCondLst>
                                    <p:cond delay="0"/>
                                  </p:stCondLst>
                                  <p:childTnLst>
                                    <p:set>
                                      <p:cBhvr>
                                        <p:cTn id="106" dur="1" fill="hold">
                                          <p:stCondLst>
                                            <p:cond delay="0"/>
                                          </p:stCondLst>
                                        </p:cTn>
                                        <p:tgtEl>
                                          <p:spTgt spid="3">
                                            <p:txEl>
                                              <p:pRg st="25" end="25"/>
                                            </p:txEl>
                                          </p:spTgt>
                                        </p:tgtEl>
                                        <p:attrNameLst>
                                          <p:attrName>style.visibility</p:attrName>
                                        </p:attrNameLst>
                                      </p:cBhvr>
                                      <p:to>
                                        <p:strVal val="visible"/>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grpId="0" nodeType="clickEffect">
                                  <p:stCondLst>
                                    <p:cond delay="0"/>
                                  </p:stCondLst>
                                  <p:childTnLst>
                                    <p:set>
                                      <p:cBhvr>
                                        <p:cTn id="110" dur="1" fill="hold">
                                          <p:stCondLst>
                                            <p:cond delay="0"/>
                                          </p:stCondLst>
                                        </p:cTn>
                                        <p:tgtEl>
                                          <p:spTgt spid="3">
                                            <p:txEl>
                                              <p:pRg st="26" end="26"/>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grpId="0" nodeType="clickEffect">
                                  <p:stCondLst>
                                    <p:cond delay="0"/>
                                  </p:stCondLst>
                                  <p:childTnLst>
                                    <p:set>
                                      <p:cBhvr>
                                        <p:cTn id="114" dur="1" fill="hold">
                                          <p:stCondLst>
                                            <p:cond delay="0"/>
                                          </p:stCondLst>
                                        </p:cTn>
                                        <p:tgtEl>
                                          <p:spTgt spid="3">
                                            <p:txEl>
                                              <p:pRg st="27" end="27"/>
                                            </p:txEl>
                                          </p:spTgt>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
                                            <p:txEl>
                                              <p:pRg st="28" end="28"/>
                                            </p:txEl>
                                          </p:spTgt>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0" nodeType="clickEffect">
                                  <p:stCondLst>
                                    <p:cond delay="0"/>
                                  </p:stCondLst>
                                  <p:childTnLst>
                                    <p:set>
                                      <p:cBhvr>
                                        <p:cTn id="122" dur="1" fill="hold">
                                          <p:stCondLst>
                                            <p:cond delay="0"/>
                                          </p:stCondLst>
                                        </p:cTn>
                                        <p:tgtEl>
                                          <p:spTgt spid="3">
                                            <p:txEl>
                                              <p:pRg st="29" end="2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teaching_template2" id="{CBC56AD8-951C-2944-A4E3-F767E8CAE259}" vid="{30215DE4-107A-5045-906F-05FEE4F28AC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Avenir Book</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CSC 106 Can Computers Think? Portfolio 1, Student Inititals -</dc:title>
  <dc:creator/>
  <cp:keywords/>
  <dcterms:created xsi:type="dcterms:W3CDTF">2026-09-09T15:30:53Z</dcterms:created>
  <dcterms:modified xsi:type="dcterms:W3CDTF">2026-09-09T15:30:53Z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jupyter">
    <vt:lpwstr>python3</vt:lpwstr>
  </property>
  <property fmtid="{D5CDD505-2E9C-101B-9397-08002B2CF9AE}" pid="7" name="labels">
    <vt:lpwstr/>
  </property>
  <property fmtid="{D5CDD505-2E9C-101B-9397-08002B2CF9AE}" pid="8" name="toc-title">
    <vt:lpwstr>Table of contents</vt:lpwstr>
  </property>
</Properties>
</file>