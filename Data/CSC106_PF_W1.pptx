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B"/>
    <a:srgbClr val="FDFFF5"/>
    <a:srgbClr val="FFFFFE"/>
    <a:srgbClr val="9BC1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6589"/>
    <p:restoredTop autoAdjust="0" sz="94694"/>
  </p:normalViewPr>
  <p:slideViewPr>
    <p:cSldViewPr snapToGrid="0" snapToObjects="1">
      <p:cViewPr varScale="1">
        <p:scale>
          <a:sx d="100" n="169"/>
          <a:sy d="100" n="169"/>
        </p:scale>
        <p:origin x="184" y="24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20" Type="http://schemas.openxmlformats.org/officeDocument/2006/relationships/viewProps" Target="viewProps.xml" /><Relationship Id="rId19" Type="http://schemas.openxmlformats.org/officeDocument/2006/relationships/presProps" Target="presProps.xml" /><Relationship Id="rId1" Type="http://schemas.openxmlformats.org/officeDocument/2006/relationships/slideMaster" Target="slideMasters/slideMaster1.xml" /><Relationship Id="rId22" Type="http://schemas.openxmlformats.org/officeDocument/2006/relationships/tableStyles" Target="tableStyles.xml" /><Relationship Id="rId2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43049"/>
            <a:ext cx="7772400" cy="1102519"/>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83297"/>
            <a:ext cx="8229600" cy="85725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241EB5C9-1307-BA42-ABA2-0BC069CD8E7F}" type="datetimeFigureOut">
              <a:rPr lang="en-US" smtClean="0"/>
              <a:t>4/19/26</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a:prstGeom prst="rect">
            <a:avLst/>
          </a:prstGeom>
        </p:spPr>
        <p:txBody>
          <a:bodyPr anchor="t"/>
          <a:lstStyle>
            <a:lvl1pPr algn="l">
              <a:defRPr sz="3000" b="1" cap="all"/>
            </a:lvl1pPr>
          </a:lstStyle>
          <a:p>
            <a:r>
              <a:rPr lang="en-US"/>
              <a:t>Click to edit Master title style</a:t>
            </a:r>
            <a:endParaRPr lang="en-US" dirty="0"/>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83297"/>
            <a:ext cx="8229600" cy="857250"/>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701383"/>
            <a:ext cx="4038600" cy="2893239"/>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701383"/>
            <a:ext cx="4038600" cy="289324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483297"/>
            <a:ext cx="8229600" cy="85725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473620"/>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061148"/>
            <a:ext cx="4040188" cy="2533474"/>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6" y="1473620"/>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061146"/>
            <a:ext cx="4041775" cy="2533475"/>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483297"/>
            <a:ext cx="8229600" cy="857250"/>
          </a:xfrm>
          <a:prstGeom prst="rect">
            <a:avLst/>
          </a:prstGeom>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764498"/>
            <a:ext cx="3008313" cy="364292"/>
          </a:xfrm>
          <a:prstGeom prst="rect">
            <a:avLst/>
          </a:prstGeom>
        </p:spPr>
        <p:txBody>
          <a:bodyPr anchor="b"/>
          <a:lstStyle>
            <a:lvl1pPr algn="l">
              <a:defRPr sz="1500" b="1"/>
            </a:lvl1pPr>
          </a:lstStyle>
          <a:p>
            <a:r>
              <a:rPr lang="en-US"/>
              <a:t>Click to edit Master title style</a:t>
            </a:r>
            <a:endParaRPr lang="en-US" dirty="0"/>
          </a:p>
        </p:txBody>
      </p:sp>
      <p:sp>
        <p:nvSpPr>
          <p:cNvPr id="3" name="Content Placeholder 2"/>
          <p:cNvSpPr>
            <a:spLocks noGrp="1"/>
          </p:cNvSpPr>
          <p:nvPr>
            <p:ph idx="1"/>
          </p:nvPr>
        </p:nvSpPr>
        <p:spPr>
          <a:xfrm>
            <a:off x="3575050" y="1738859"/>
            <a:ext cx="5111750" cy="2855764"/>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738859"/>
            <a:ext cx="3008313" cy="2855764"/>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1543049"/>
            <a:ext cx="5486400" cy="2002631"/>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483297"/>
            <a:ext cx="8229600" cy="85725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461541"/>
            <a:ext cx="2057400" cy="3133082"/>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461541"/>
            <a:ext cx="6019800" cy="313308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latin charset="0" panose="02000503020000020003" pitchFamily="2" typeface="Avenir Book"/>
              </a:defRPr>
            </a:lvl1pPr>
          </a:lstStyle>
          <a:p>
            <a:fld id="{C5EF2332-01BF-834F-8236-50238282D533}" type="slidenum">
              <a:rPr lang="en-US" smtClean="0"/>
              <a:pPr/>
              <a:t>‹#›</a:t>
            </a:fld>
            <a:endParaRPr dirty="0" lang="en-US"/>
          </a:p>
        </p:txBody>
      </p:sp>
      <p:sp>
        <p:nvSpPr>
          <p:cNvPr id="7" name="Title Placeholder 6">
            <a:extLst>
              <a:ext uri="{FF2B5EF4-FFF2-40B4-BE49-F238E27FC236}">
                <a16:creationId xmlns:a16="http://schemas.microsoft.com/office/drawing/2014/main" id="{7C9D60D8-FE13-7A5F-1388-42340999754A}"/>
              </a:ext>
            </a:extLst>
          </p:cNvPr>
          <p:cNvSpPr>
            <a:spLocks noGrp="1"/>
          </p:cNvSpPr>
          <p:nvPr>
            <p:ph type="title"/>
          </p:nvPr>
        </p:nvSpPr>
        <p:spPr>
          <a:xfrm>
            <a:off x="628650" y="274638"/>
            <a:ext cx="7886700" cy="993775"/>
          </a:xfrm>
          <a:prstGeom prst="rect">
            <a:avLst/>
          </a:prstGeom>
        </p:spPr>
        <p:txBody>
          <a:bodyPr anchor="ctr" bIns="45720" lIns="91440" rIns="91440" rtlCol="0" tIns="45720" vert="horz">
            <a:normAutofit/>
          </a:bodyPr>
          <a:lstStyle/>
          <a:p>
            <a:r>
              <a:rPr lang="en-US"/>
              <a:t>Click to edit Master title style</a:t>
            </a:r>
            <a:endParaRPr dirty="0" lang="en-US"/>
          </a:p>
        </p:txBody>
      </p:sp>
      <p:sp>
        <p:nvSpPr>
          <p:cNvPr id="3" name="Text Placeholder 2"/>
          <p:cNvSpPr>
            <a:spLocks noGrp="1"/>
          </p:cNvSpPr>
          <p:nvPr>
            <p:ph idx="1" type="body"/>
          </p:nvPr>
        </p:nvSpPr>
        <p:spPr>
          <a:xfrm>
            <a:off x="457200" y="1656413"/>
            <a:ext cx="8229600" cy="2938210"/>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charset="0" panose="02000503020000020003" pitchFamily="2" typeface="Avenir Book"/>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charset="0" panose="02000503020000020003" pitchFamily="2" typeface="Avenir Book"/>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charset="0" panose="02000503020000020003" pitchFamily="2" typeface="Avenir Book"/>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charset="0" panose="02000503020000020003" pitchFamily="2" typeface="Avenir Book"/>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charset="0" panose="02000503020000020003" pitchFamily="2" typeface="Avenir Book"/>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charset="0" panose="02000503020000020003" pitchFamily="2" typeface="Avenir Book"/>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reeborg.ca/reeborg.html" TargetMode="External" /><Relationship Id="rId2" Type="http://schemas.openxmlformats.org/officeDocument/2006/relationships/image" Target="../media/image1.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image" Target="../media/image5.png" /><Relationship Id="rId2" Type="http://schemas.openxmlformats.org/officeDocument/2006/relationships/image" Target="../media/image4.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43049"/>
            <a:ext cx="7772400" cy="1102519"/>
          </a:xfrm>
          <a:prstGeom prst="rect">
            <a:avLst/>
          </a:prstGeom>
        </p:spPr>
        <p:txBody>
          <a:bodyPr/>
          <a:lstStyle/>
          <a:p>
            <a:pPr lvl="0" indent="0" marL="0">
              <a:buNone/>
            </a:pPr>
            <a:r>
              <a:rPr/>
              <a:t>CSC 106 Can Computers Think? Portfolio 1, Student Inititals -</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NAME:</a:t>
            </a:r>
          </a:p>
          <a:p>
            <a:pPr lvl="0" indent="0" marL="0">
              <a:buNone/>
            </a:pPr>
            <a:r>
              <a:rPr/>
              <a:t>STUDENT ID:</a:t>
            </a:r>
          </a:p>
          <a:p>
            <a:pPr lvl="0" indent="0" marL="0">
              <a:buNone/>
            </a:pPr>
            <a:r>
              <a:rPr/>
              <a:t>Remember to also initial in the upper right-hand header of each page.</a:t>
            </a:r>
          </a:p>
          <a:p>
            <a:pPr lvl="0" indent="0" marL="0">
              <a:buNone/>
            </a:pPr>
            <a:r>
              <a:rPr b="1"/>
              <a:t>Due Wed. Sept. 23rd by the end of class.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64498"/>
            <a:ext cx="3008313" cy="364292"/>
          </a:xfrm>
          <a:prstGeom prst="rect">
            <a:avLst/>
          </a:prstGeom>
        </p:spPr>
        <p:txBody>
          <a:bodyPr/>
          <a:lstStyle/>
          <a:p>
            <a:pPr lvl="0" indent="0" marL="0">
              <a:buNone/>
            </a:pPr>
            <a:r>
              <a:rPr/>
              <a:t>Portfolio 1: Programming Syntax and Semantics</a:t>
            </a:r>
          </a:p>
        </p:txBody>
      </p:sp>
      <p:sp>
        <p:nvSpPr>
          <p:cNvPr id="4" name="Text Placeholder 3"/>
          <p:cNvSpPr>
            <a:spLocks noGrp="1"/>
          </p:cNvSpPr>
          <p:nvPr>
            <p:ph idx="2" sz="half" type="body"/>
          </p:nvPr>
        </p:nvSpPr>
        <p:spPr/>
        <p:txBody>
          <a:bodyPr/>
          <a:lstStyle/>
          <a:p>
            <a:pPr lvl="0" indent="0" marL="0">
              <a:buNone/>
            </a:pPr>
            <a:r>
              <a:rPr/>
              <a:t>To succeed in these problems you will need to read and engage with the embedded activities in the following </a:t>
            </a:r>
            <a:r>
              <a:rPr b="1"/>
              <a:t>Runestone texbook chapters</a:t>
            </a:r>
            <a:r>
              <a:rPr/>
              <a:t> (worth 0.5 of a grade percentage point):</a:t>
            </a:r>
          </a:p>
          <a:p>
            <a:pPr lvl="0"/>
            <a:r>
              <a:rPr/>
              <a:t>Ch. 1: Introduction</a:t>
            </a:r>
          </a:p>
          <a:p>
            <a:pPr lvl="0"/>
            <a:r>
              <a:rPr/>
              <a:t>Ch. 2: Variables, Statements and Expressions</a:t>
            </a:r>
          </a:p>
          <a:p>
            <a:pPr lvl="0" indent="0" marL="0">
              <a:buNone/>
            </a:pPr>
            <a:r>
              <a:rPr i="1"/>
              <a:t>For completing and self-correcting 70% of the below activities (during in-class share-outs), you will earn 1 grade percentage point</a:t>
            </a:r>
            <a:r>
              <a:rPr/>
              <a:t>. For participating in a </a:t>
            </a:r>
            <a:r>
              <a:rPr i="1"/>
              <a:t>share-out of 1 of the activities, you will earn 0.5 of a grade percentage point</a:t>
            </a:r>
            <a:r>
              <a:rPr/>
              <a:t>.</a:t>
            </a:r>
          </a:p>
          <a:p>
            <a:pPr lvl="0" indent="0" marL="0">
              <a:buNone/>
            </a:pPr>
            <a:r>
              <a:rPr/>
              <a:t>Note that some activities we will plan to start in class and others you need to start on your own (“oyo”). You should finish each activity before its in-class share-out in order to correct it before final submission. Note the intended schedule below but keep in mind that the schedule is always subject to change.</a:t>
            </a:r>
          </a:p>
          <a:p>
            <a:pPr lvl="0" indent="0" marL="0">
              <a:buNone/>
            </a:pPr>
            <a:r>
              <a:rPr/>
              <a:t>Remember to print and attach your programs for the coding activities. Programs should be submitted to gradescope for autograder results, but credit is given to programs printed and included in this portfolio, on completetion, regaurdless of autograder results. Programs should be marked up for corrections during in-class share-outs.</a:t>
            </a:r>
          </a:p>
          <a:p>
            <a:pPr lvl="0" indent="0" marL="0">
              <a:spcBef>
                <a:spcPts val="3000"/>
              </a:spcBef>
              <a:buNone/>
            </a:pPr>
            <a:r>
              <a:rPr b="1"/>
              <a:t>Table of Contents</a:t>
            </a:r>
          </a:p>
          <a:p>
            <a:pPr lvl="0" indent="0" marL="0">
              <a:buNone/>
            </a:pPr>
            <a:r>
              <a:rPr/>
              <a:t>This portfolio includes the following 10 activities and the report of your weekly share-out:</a:t>
            </a:r>
          </a:p>
        </p:txBody>
      </p:sp>
      <p:graphicFrame>
        <p:nvGraphicFramePr>
          <p:cNvPr id="6" name="Content Placeholder 5"/>
          <p:cNvGraphicFramePr>
            <a:graphicFrameLocks noGrp="1"/>
          </p:cNvGraphicFramePr>
          <p:nvPr>
            <p:ph idx="1"/>
          </p:nvPr>
        </p:nvGraphicFramePr>
        <p:xfrm>
          <a:off x="3568700" y="1727200"/>
          <a:ext cx="5105400" cy="2844800"/>
        </p:xfrm>
        <a:graphic>
          <a:graphicData uri="http://schemas.openxmlformats.org/drawingml/2006/table">
            <a:tbl>
              <a:tblPr firstRow="1" bandRow="1">
                <a:tableStyleId>{5C22544A-7EE6-4342-B048-85BDC9FD1C3A}</a:tableStyleId>
              </a:tblPr>
              <a:tblGrid>
                <a:gridCol w="177800"/>
                <a:gridCol w="2120900"/>
                <a:gridCol w="228600"/>
                <a:gridCol w="508000"/>
                <a:gridCol w="736600"/>
                <a:gridCol w="1333500"/>
              </a:tblGrid>
              <a:tr h="0">
                <a:tc>
                  <a:txBody>
                    <a:bodyPr/>
                    <a:lstStyle/>
                    <a:p>
                      <a:pPr lvl="0" indent="0" marL="0">
                        <a:buNone/>
                      </a:pPr>
                      <a:r>
                        <a:rPr/>
                        <a:t>Part</a:t>
                      </a:r>
                    </a:p>
                  </a:txBody>
                  <a:tcPr/>
                </a:tc>
                <a:tc>
                  <a:txBody>
                    <a:bodyPr/>
                    <a:lstStyle/>
                    <a:p>
                      <a:pPr lvl="0" indent="0" marL="0">
                        <a:buNone/>
                      </a:pPr>
                      <a:r>
                        <a:rPr/>
                        <a:t>Problem/Task</a:t>
                      </a:r>
                    </a:p>
                  </a:txBody>
                  <a:tcPr/>
                </a:tc>
                <a:tc>
                  <a:txBody>
                    <a:bodyPr/>
                    <a:lstStyle/>
                    <a:p>
                      <a:pPr lvl="0" indent="0" marL="0">
                        <a:buNone/>
                      </a:pPr>
                      <a:r>
                        <a:rPr/>
                        <a:t>Page</a:t>
                      </a:r>
                    </a:p>
                  </a:txBody>
                  <a:tcPr/>
                </a:tc>
                <a:tc>
                  <a:txBody>
                    <a:bodyPr/>
                    <a:lstStyle/>
                    <a:p>
                      <a:pPr lvl="0" indent="0" marL="0">
                        <a:buNone/>
                      </a:pPr>
                      <a:r>
                        <a:rPr/>
                        <a:t>In-class Start</a:t>
                      </a:r>
                    </a:p>
                  </a:txBody>
                  <a:tcPr/>
                </a:tc>
                <a:tc>
                  <a:txBody>
                    <a:bodyPr/>
                    <a:lstStyle/>
                    <a:p>
                      <a:pPr lvl="0" indent="0" marL="0">
                        <a:buNone/>
                      </a:pPr>
                      <a:r>
                        <a:rPr/>
                        <a:t>In-class Share-out</a:t>
                      </a:r>
                    </a:p>
                  </a:txBody>
                  <a:tcPr/>
                </a:tc>
                <a:tc>
                  <a:txBody>
                    <a:bodyPr/>
                    <a:lstStyle/>
                    <a:p>
                      <a:pPr lvl="0" indent="0" marL="0">
                        <a:buNone/>
                      </a:pPr>
                      <a:r>
                        <a:rPr/>
                        <a:t>Submission Format</a:t>
                      </a:r>
                    </a:p>
                  </a:txBody>
                  <a:tcPr/>
                </a:tc>
              </a:tr>
              <a:tr h="0">
                <a:tc>
                  <a:txBody>
                    <a:bodyPr/>
                    <a:lstStyle/>
                    <a:p>
                      <a:pPr lvl="0" indent="0" marL="0">
                        <a:buNone/>
                      </a:pPr>
                      <a:r>
                        <a:rPr/>
                        <a:t>A1</a:t>
                      </a:r>
                    </a:p>
                  </a:txBody>
                </a:tc>
                <a:tc>
                  <a:txBody>
                    <a:bodyPr/>
                    <a:lstStyle/>
                    <a:p>
                      <a:pPr lvl="0" indent="0" marL="0">
                        <a:buNone/>
                      </a:pPr>
                      <a:r>
                        <a:rPr/>
                        <a:t>Written prompt: think?</a:t>
                      </a:r>
                    </a:p>
                  </a:txBody>
                </a:tc>
                <a:tc>
                  <a:txBody>
                    <a:bodyPr/>
                    <a:lstStyle/>
                    <a:p>
                      <a:pPr lvl="0" indent="0" marL="0">
                        <a:buNone/>
                      </a:pPr>
                      <a:r>
                        <a:rPr/>
                        <a:t>2</a:t>
                      </a:r>
                    </a:p>
                  </a:txBody>
                </a:tc>
                <a:tc>
                  <a:txBody>
                    <a:bodyPr/>
                    <a:lstStyle/>
                    <a:p>
                      <a:pPr lvl="0" indent="0" marL="0">
                        <a:buNone/>
                      </a:pPr>
                      <a:r>
                        <a:rPr/>
                        <a:t>W 9/9</a:t>
                      </a:r>
                    </a:p>
                  </a:txBody>
                </a:tc>
                <a:tc>
                  <a:txBody>
                    <a:bodyPr/>
                    <a:lstStyle/>
                    <a:p>
                      <a:pPr lvl="0" indent="0" marL="0">
                        <a:buNone/>
                      </a:pPr>
                      <a:r>
                        <a:rPr/>
                        <a:t>W 9/9</a:t>
                      </a:r>
                    </a:p>
                  </a:txBody>
                </a:tc>
                <a:tc>
                  <a:txBody>
                    <a:bodyPr/>
                    <a:lstStyle/>
                    <a:p>
                      <a:pPr lvl="0" indent="0" marL="0">
                        <a:buNone/>
                      </a:pPr>
                      <a:r>
                        <a:rPr/>
                        <a:t>Hand-written</a:t>
                      </a:r>
                    </a:p>
                  </a:txBody>
                </a:tc>
              </a:tr>
              <a:tr h="0">
                <a:tc>
                  <a:txBody>
                    <a:bodyPr/>
                    <a:lstStyle/>
                    <a:p>
                      <a:pPr lvl="0" indent="0" marL="0">
                        <a:buNone/>
                      </a:pPr>
                      <a:r>
                        <a:rPr/>
                        <a:t>A2</a:t>
                      </a:r>
                    </a:p>
                  </a:txBody>
                </a:tc>
                <a:tc>
                  <a:txBody>
                    <a:bodyPr/>
                    <a:lstStyle/>
                    <a:p>
                      <a:pPr lvl="0" indent="0" marL="0">
                        <a:buNone/>
                      </a:pPr>
                      <a:r>
                        <a:rPr/>
                        <a:t>Written programs for human turtles</a:t>
                      </a:r>
                    </a:p>
                  </a:txBody>
                </a:tc>
                <a:tc>
                  <a:txBody>
                    <a:bodyPr/>
                    <a:lstStyle/>
                    <a:p>
                      <a:pPr lvl="0" indent="0" marL="0">
                        <a:buNone/>
                      </a:pPr>
                      <a:r>
                        <a:rPr/>
                        <a:t>3</a:t>
                      </a:r>
                    </a:p>
                  </a:txBody>
                </a:tc>
                <a:tc>
                  <a:txBody>
                    <a:bodyPr/>
                    <a:lstStyle/>
                    <a:p>
                      <a:pPr lvl="0" indent="0" marL="0">
                        <a:buNone/>
                      </a:pPr>
                      <a:r>
                        <a:rPr/>
                        <a:t>W 9/9</a:t>
                      </a:r>
                    </a:p>
                  </a:txBody>
                </a:tc>
                <a:tc>
                  <a:txBody>
                    <a:bodyPr/>
                    <a:lstStyle/>
                    <a:p>
                      <a:pPr lvl="0" indent="0" marL="0">
                        <a:buNone/>
                      </a:pPr>
                      <a:r>
                        <a:rPr/>
                        <a:t>W 9/9</a:t>
                      </a:r>
                    </a:p>
                  </a:txBody>
                </a:tc>
                <a:tc>
                  <a:txBody>
                    <a:bodyPr/>
                    <a:lstStyle/>
                    <a:p>
                      <a:pPr lvl="0" indent="0" marL="0">
                        <a:buNone/>
                      </a:pPr>
                      <a:r>
                        <a:rPr/>
                        <a:t>Hand-written</a:t>
                      </a:r>
                    </a:p>
                  </a:txBody>
                </a:tc>
              </a:tr>
              <a:tr h="0">
                <a:tc>
                  <a:txBody>
                    <a:bodyPr/>
                    <a:lstStyle/>
                    <a:p>
                      <a:pPr lvl="0" indent="0" marL="0">
                        <a:buNone/>
                      </a:pPr>
                      <a:r>
                        <a:rPr/>
                        <a:t>A3</a:t>
                      </a:r>
                    </a:p>
                  </a:txBody>
                </a:tc>
                <a:tc>
                  <a:txBody>
                    <a:bodyPr/>
                    <a:lstStyle/>
                    <a:p>
                      <a:pPr lvl="0" indent="0" marL="0">
                        <a:buNone/>
                      </a:pPr>
                      <a:r>
                        <a:rPr/>
                        <a:t>Written questions - computer basics</a:t>
                      </a:r>
                    </a:p>
                  </a:txBody>
                </a:tc>
                <a:tc>
                  <a:txBody>
                    <a:bodyPr/>
                    <a:lstStyle/>
                    <a:p>
                      <a:pPr lvl="0" indent="0" marL="0">
                        <a:buNone/>
                      </a:pPr>
                      <a:r>
                        <a:rPr/>
                        <a:t>5</a:t>
                      </a:r>
                    </a:p>
                  </a:txBody>
                </a:tc>
                <a:tc>
                  <a:txBody>
                    <a:bodyPr/>
                    <a:lstStyle/>
                    <a:p>
                      <a:pPr lvl="0" indent="0" marL="0">
                        <a:buNone/>
                      </a:pPr>
                      <a:r>
                        <a:rPr/>
                        <a:t>Th 9/10</a:t>
                      </a:r>
                    </a:p>
                  </a:txBody>
                </a:tc>
                <a:tc>
                  <a:txBody>
                    <a:bodyPr/>
                    <a:lstStyle/>
                    <a:p>
                      <a:pPr lvl="0" indent="0" marL="0">
                        <a:buNone/>
                      </a:pPr>
                      <a:r>
                        <a:rPr/>
                        <a:t>Th 9/10</a:t>
                      </a:r>
                    </a:p>
                  </a:txBody>
                </a:tc>
                <a:tc>
                  <a:txBody>
                    <a:bodyPr/>
                    <a:lstStyle/>
                    <a:p>
                      <a:pPr lvl="0" indent="0" marL="0">
                        <a:buNone/>
                      </a:pPr>
                      <a:r>
                        <a:rPr/>
                        <a:t>Hand-written</a:t>
                      </a:r>
                    </a:p>
                  </a:txBody>
                </a:tc>
              </a:tr>
              <a:tr h="0">
                <a:tc>
                  <a:txBody>
                    <a:bodyPr/>
                    <a:lstStyle/>
                    <a:p>
                      <a:pPr lvl="0" indent="0" marL="0">
                        <a:buNone/>
                      </a:pPr>
                      <a:r>
                        <a:rPr/>
                        <a:t>A4</a:t>
                      </a:r>
                    </a:p>
                  </a:txBody>
                </a:tc>
                <a:tc>
                  <a:txBody>
                    <a:bodyPr/>
                    <a:lstStyle/>
                    <a:p>
                      <a:pPr lvl="0" indent="0" marL="0">
                        <a:buNone/>
                      </a:pPr>
                      <a:r>
                        <a:rPr/>
                        <a:t>Prog. with Reeborg (patterns)</a:t>
                      </a:r>
                    </a:p>
                  </a:txBody>
                </a:tc>
                <a:tc>
                  <a:txBody>
                    <a:bodyPr/>
                    <a:lstStyle/>
                    <a:p>
                      <a:pPr lvl="0" indent="0" marL="0">
                        <a:buNone/>
                      </a:pPr>
                      <a:r>
                        <a:rPr/>
                        <a:t>7</a:t>
                      </a:r>
                    </a:p>
                  </a:txBody>
                </a:tc>
                <a:tc>
                  <a:txBody>
                    <a:bodyPr/>
                    <a:lstStyle/>
                    <a:p>
                      <a:pPr lvl="0" indent="0" marL="0">
                        <a:buNone/>
                      </a:pPr>
                      <a:r>
                        <a:rPr/>
                        <a:t>Th 9/10</a:t>
                      </a:r>
                    </a:p>
                  </a:txBody>
                </a:tc>
                <a:tc>
                  <a:txBody>
                    <a:bodyPr/>
                    <a:lstStyle/>
                    <a:p>
                      <a:pPr lvl="0" indent="0" marL="0">
                        <a:buNone/>
                      </a:pPr>
                      <a:r>
                        <a:rPr/>
                        <a:t>Th 9/10</a:t>
                      </a:r>
                    </a:p>
                  </a:txBody>
                </a:tc>
                <a:tc>
                  <a:txBody>
                    <a:bodyPr/>
                    <a:lstStyle/>
                    <a:p>
                      <a:pPr lvl="0" indent="0" marL="0">
                        <a:buNone/>
                      </a:pPr>
                      <a:r>
                        <a:rPr/>
                        <a:t>Printed</a:t>
                      </a:r>
                    </a:p>
                  </a:txBody>
                </a:tc>
              </a:tr>
              <a:tr h="0">
                <a:tc>
                  <a:txBody>
                    <a:bodyPr/>
                    <a:lstStyle/>
                    <a:p>
                      <a:pPr lvl="0" indent="0" marL="0">
                        <a:buNone/>
                      </a:pPr>
                      <a:r>
                        <a:rPr/>
                        <a:t>A5</a:t>
                      </a:r>
                    </a:p>
                  </a:txBody>
                </a:tc>
                <a:tc>
                  <a:txBody>
                    <a:bodyPr/>
                    <a:lstStyle/>
                    <a:p>
                      <a:pPr lvl="0" indent="0" marL="0">
                        <a:buNone/>
                      </a:pPr>
                      <a:r>
                        <a:rPr/>
                        <a:t>Prog. with Reeborg (newspaper)</a:t>
                      </a:r>
                    </a:p>
                  </a:txBody>
                </a:tc>
                <a:tc>
                  <a:txBody>
                    <a:bodyPr/>
                    <a:lstStyle/>
                    <a:p>
                      <a:pPr lvl="0" indent="0" marL="0">
                        <a:buNone/>
                      </a:pPr>
                      <a:r>
                        <a:rPr/>
                        <a:t>9</a:t>
                      </a:r>
                    </a:p>
                  </a:txBody>
                </a:tc>
                <a:tc>
                  <a:txBody>
                    <a:bodyPr/>
                    <a:lstStyle/>
                    <a:p>
                      <a:pPr lvl="0" indent="0" marL="0">
                        <a:buNone/>
                      </a:pPr>
                      <a:r>
                        <a:rPr/>
                        <a:t>Th 9/10</a:t>
                      </a:r>
                    </a:p>
                  </a:txBody>
                </a:tc>
                <a:tc>
                  <a:txBody>
                    <a:bodyPr/>
                    <a:lstStyle/>
                    <a:p>
                      <a:pPr lvl="0" indent="0" marL="0">
                        <a:buNone/>
                      </a:pPr>
                      <a:r>
                        <a:rPr/>
                        <a:t>F 9/11</a:t>
                      </a:r>
                    </a:p>
                  </a:txBody>
                </a:tc>
                <a:tc>
                  <a:txBody>
                    <a:bodyPr/>
                    <a:lstStyle/>
                    <a:p>
                      <a:pPr lvl="0" indent="0" marL="0">
                        <a:buNone/>
                      </a:pPr>
                      <a:r>
                        <a:rPr/>
                        <a:t>Gradescope &amp; printed</a:t>
                      </a:r>
                    </a:p>
                  </a:txBody>
                </a:tc>
              </a:tr>
              <a:tr h="0">
                <a:tc>
                  <a:txBody>
                    <a:bodyPr/>
                    <a:lstStyle/>
                    <a:p>
                      <a:pPr lvl="0" indent="0" marL="0">
                        <a:buNone/>
                      </a:pPr>
                      <a:r>
                        <a:rPr/>
                        <a:t>A6</a:t>
                      </a:r>
                    </a:p>
                  </a:txBody>
                </a:tc>
                <a:tc>
                  <a:txBody>
                    <a:bodyPr/>
                    <a:lstStyle/>
                    <a:p>
                      <a:pPr lvl="0" indent="0" marL="0">
                        <a:buNone/>
                      </a:pPr>
                      <a:r>
                        <a:rPr/>
                        <a:t>Questions - syntax, semantics, prompt</a:t>
                      </a:r>
                    </a:p>
                  </a:txBody>
                </a:tc>
                <a:tc>
                  <a:txBody>
                    <a:bodyPr/>
                    <a:lstStyle/>
                    <a:p>
                      <a:pPr lvl="0" indent="0" marL="0">
                        <a:buNone/>
                      </a:pPr>
                      <a:r>
                        <a:rPr/>
                        <a:t>11</a:t>
                      </a:r>
                    </a:p>
                  </a:txBody>
                </a:tc>
                <a:tc>
                  <a:txBody>
                    <a:bodyPr/>
                    <a:lstStyle/>
                    <a:p>
                      <a:pPr lvl="0" indent="0" marL="0">
                        <a:buNone/>
                      </a:pPr>
                      <a:r>
                        <a:rPr/>
                        <a:t>F 9/11</a:t>
                      </a:r>
                    </a:p>
                  </a:txBody>
                </a:tc>
                <a:tc>
                  <a:txBody>
                    <a:bodyPr/>
                    <a:lstStyle/>
                    <a:p>
                      <a:pPr lvl="0" indent="0" marL="0">
                        <a:buNone/>
                      </a:pPr>
                      <a:r>
                        <a:rPr/>
                        <a:t>M 9/14</a:t>
                      </a:r>
                    </a:p>
                  </a:txBody>
                </a:tc>
                <a:tc>
                  <a:txBody>
                    <a:bodyPr/>
                    <a:lstStyle/>
                    <a:p>
                      <a:pPr lvl="0" indent="0" marL="0">
                        <a:buNone/>
                      </a:pPr>
                      <a:r>
                        <a:rPr/>
                        <a:t>Hand-written</a:t>
                      </a:r>
                    </a:p>
                  </a:txBody>
                </a:tc>
              </a:tr>
              <a:tr h="0">
                <a:tc>
                  <a:txBody>
                    <a:bodyPr/>
                    <a:lstStyle/>
                    <a:p>
                      <a:pPr lvl="0" indent="0" marL="0">
                        <a:buNone/>
                      </a:pPr>
                      <a:r>
                        <a:rPr/>
                        <a:t>A7</a:t>
                      </a:r>
                    </a:p>
                  </a:txBody>
                </a:tc>
                <a:tc>
                  <a:txBody>
                    <a:bodyPr/>
                    <a:lstStyle/>
                    <a:p>
                      <a:pPr lvl="0" indent="0" marL="0">
                        <a:buNone/>
                      </a:pPr>
                      <a:r>
                        <a:rPr/>
                        <a:t>Tracing Re-assignment</a:t>
                      </a:r>
                    </a:p>
                  </a:txBody>
                </a:tc>
                <a:tc>
                  <a:txBody>
                    <a:bodyPr/>
                    <a:lstStyle/>
                    <a:p>
                      <a:pPr lvl="0" indent="0" marL="0">
                        <a:buNone/>
                      </a:pPr>
                      <a:r>
                        <a:rPr/>
                        <a:t>13</a:t>
                      </a:r>
                    </a:p>
                  </a:txBody>
                </a:tc>
                <a:tc>
                  <a:txBody>
                    <a:bodyPr/>
                    <a:lstStyle/>
                    <a:p>
                      <a:pPr lvl="0" indent="0" marL="0">
                        <a:buNone/>
                      </a:pPr>
                      <a:r>
                        <a:rPr/>
                        <a:t>oyo</a:t>
                      </a:r>
                    </a:p>
                  </a:txBody>
                </a:tc>
                <a:tc>
                  <a:txBody>
                    <a:bodyPr/>
                    <a:lstStyle/>
                    <a:p>
                      <a:pPr lvl="0" indent="0" marL="0">
                        <a:buNone/>
                      </a:pPr>
                      <a:r>
                        <a:rPr/>
                        <a:t>M 9/14</a:t>
                      </a:r>
                    </a:p>
                  </a:txBody>
                </a:tc>
                <a:tc>
                  <a:txBody>
                    <a:bodyPr/>
                    <a:lstStyle/>
                    <a:p>
                      <a:pPr lvl="0" indent="0" marL="0">
                        <a:buNone/>
                      </a:pPr>
                      <a:r>
                        <a:rPr/>
                        <a:t>Hand-written</a:t>
                      </a:r>
                    </a:p>
                  </a:txBody>
                </a:tc>
              </a:tr>
              <a:tr h="0">
                <a:tc>
                  <a:txBody>
                    <a:bodyPr/>
                    <a:lstStyle/>
                    <a:p>
                      <a:pPr lvl="0" indent="0" marL="0">
                        <a:buNone/>
                      </a:pPr>
                      <a:r>
                        <a:rPr/>
                        <a:t>A8</a:t>
                      </a:r>
                    </a:p>
                  </a:txBody>
                </a:tc>
                <a:tc>
                  <a:txBody>
                    <a:bodyPr/>
                    <a:lstStyle/>
                    <a:p>
                      <a:pPr lvl="0" indent="0" marL="0">
                        <a:buNone/>
                      </a:pPr>
                      <a:r>
                        <a:rPr/>
                        <a:t>Prog. Arithmetic, reciept</a:t>
                      </a:r>
                    </a:p>
                  </a:txBody>
                </a:tc>
                <a:tc>
                  <a:txBody>
                    <a:bodyPr/>
                    <a:lstStyle/>
                    <a:p>
                      <a:pPr lvl="0" indent="0" marL="0">
                        <a:buNone/>
                      </a:pPr>
                      <a:r>
                        <a:rPr/>
                        <a:t>15</a:t>
                      </a:r>
                    </a:p>
                  </a:txBody>
                </a:tc>
                <a:tc>
                  <a:txBody>
                    <a:bodyPr/>
                    <a:lstStyle/>
                    <a:p>
                      <a:pPr lvl="0" indent="0" marL="0">
                        <a:buNone/>
                      </a:pPr>
                      <a:r>
                        <a:rPr/>
                        <a:t>M 9/14</a:t>
                      </a:r>
                    </a:p>
                  </a:txBody>
                </a:tc>
                <a:tc>
                  <a:txBody>
                    <a:bodyPr/>
                    <a:lstStyle/>
                    <a:p>
                      <a:pPr lvl="0" indent="0" marL="0">
                        <a:buNone/>
                      </a:pPr>
                      <a:r>
                        <a:rPr/>
                        <a:t>W 9/16</a:t>
                      </a:r>
                    </a:p>
                  </a:txBody>
                </a:tc>
                <a:tc>
                  <a:txBody>
                    <a:bodyPr/>
                    <a:lstStyle/>
                    <a:p>
                      <a:pPr lvl="0" indent="0" marL="0">
                        <a:buNone/>
                      </a:pPr>
                      <a:r>
                        <a:rPr/>
                        <a:t>Gradescope &amp; printed</a:t>
                      </a:r>
                    </a:p>
                  </a:txBody>
                </a:tc>
              </a:tr>
              <a:tr h="0">
                <a:tc>
                  <a:txBody>
                    <a:bodyPr/>
                    <a:lstStyle/>
                    <a:p>
                      <a:pPr lvl="0" indent="0" marL="0">
                        <a:buNone/>
                      </a:pPr>
                      <a:r>
                        <a:rPr/>
                        <a:t>A9</a:t>
                      </a:r>
                    </a:p>
                  </a:txBody>
                </a:tc>
                <a:tc>
                  <a:txBody>
                    <a:bodyPr/>
                    <a:lstStyle/>
                    <a:p>
                      <a:pPr lvl="0" indent="0" marL="0">
                        <a:buNone/>
                      </a:pPr>
                      <a:r>
                        <a:rPr/>
                        <a:t>Prog. Reeborg (winding sandbar)</a:t>
                      </a:r>
                    </a:p>
                  </a:txBody>
                </a:tc>
                <a:tc>
                  <a:txBody>
                    <a:bodyPr/>
                    <a:lstStyle/>
                    <a:p>
                      <a:pPr lvl="0" indent="0" marL="0">
                        <a:buNone/>
                      </a:pPr>
                      <a:r>
                        <a:rPr/>
                        <a:t>17</a:t>
                      </a:r>
                    </a:p>
                  </a:txBody>
                </a:tc>
                <a:tc>
                  <a:txBody>
                    <a:bodyPr/>
                    <a:lstStyle/>
                    <a:p>
                      <a:pPr lvl="0" indent="0" marL="0">
                        <a:buNone/>
                      </a:pPr>
                      <a:r>
                        <a:rPr/>
                        <a:t>oyo</a:t>
                      </a:r>
                    </a:p>
                  </a:txBody>
                </a:tc>
                <a:tc>
                  <a:txBody>
                    <a:bodyPr/>
                    <a:lstStyle/>
                    <a:p>
                      <a:pPr lvl="0" indent="0" marL="0">
                        <a:buNone/>
                      </a:pPr>
                      <a:r>
                        <a:rPr/>
                        <a:t>W 9/16</a:t>
                      </a:r>
                    </a:p>
                  </a:txBody>
                </a:tc>
                <a:tc>
                  <a:txBody>
                    <a:bodyPr/>
                    <a:lstStyle/>
                    <a:p>
                      <a:pPr lvl="0" indent="0" marL="0">
                        <a:buNone/>
                      </a:pPr>
                      <a:r>
                        <a:rPr/>
                        <a:t>Gradescope &amp; printed</a:t>
                      </a:r>
                    </a:p>
                  </a:txBody>
                </a:tc>
              </a:tr>
              <a:tr h="0">
                <a:tc>
                  <a:txBody>
                    <a:bodyPr/>
                    <a:lstStyle/>
                    <a:p>
                      <a:pPr lvl="0" indent="0" marL="0">
                        <a:buNone/>
                      </a:pPr>
                      <a:r>
                        <a:rPr/>
                        <a:t>A10</a:t>
                      </a:r>
                    </a:p>
                  </a:txBody>
                </a:tc>
                <a:tc>
                  <a:txBody>
                    <a:bodyPr/>
                    <a:lstStyle/>
                    <a:p>
                      <a:pPr lvl="0" indent="0" marL="0">
                        <a:buNone/>
                      </a:pPr>
                      <a:r>
                        <a:rPr/>
                        <a:t>Prog. with Turtle (squares)</a:t>
                      </a:r>
                    </a:p>
                  </a:txBody>
                </a:tc>
                <a:tc>
                  <a:txBody>
                    <a:bodyPr/>
                    <a:lstStyle/>
                    <a:p>
                      <a:pPr lvl="0" indent="0" marL="0">
                        <a:buNone/>
                      </a:pPr>
                      <a:r>
                        <a:rPr/>
                        <a:t>19</a:t>
                      </a:r>
                    </a:p>
                  </a:txBody>
                </a:tc>
                <a:tc>
                  <a:txBody>
                    <a:bodyPr/>
                    <a:lstStyle/>
                    <a:p>
                      <a:pPr lvl="0" indent="0" marL="0">
                        <a:buNone/>
                      </a:pPr>
                      <a:r>
                        <a:rPr/>
                        <a:t>oyo</a:t>
                      </a:r>
                    </a:p>
                  </a:txBody>
                </a:tc>
                <a:tc>
                  <a:txBody>
                    <a:bodyPr/>
                    <a:lstStyle/>
                    <a:p>
                      <a:pPr lvl="0" indent="0" marL="0">
                        <a:buNone/>
                      </a:pPr>
                      <a:r>
                        <a:rPr/>
                        <a:t>W 9/16</a:t>
                      </a:r>
                    </a:p>
                  </a:txBody>
                </a:tc>
                <a:tc>
                  <a:txBody>
                    <a:bodyPr/>
                    <a:lstStyle/>
                    <a:p>
                      <a:pPr lvl="0" indent="0" marL="0">
                        <a:buNone/>
                      </a:pPr>
                      <a:r>
                        <a:rPr/>
                        <a:t>Gradescope &amp; printed</a:t>
                      </a:r>
                    </a:p>
                  </a:txBody>
                </a:tc>
              </a:tr>
              <a:tr h="0">
                <a:tc>
                  <a:txBody>
                    <a:bodyPr/>
                    <a:lstStyle/>
                    <a:p>
                      <a:pPr lvl="0" indent="0" marL="0">
                        <a:buNone/>
                      </a:pPr>
                      <a:r>
                        <a:rPr/>
                        <a:t>B1</a:t>
                      </a:r>
                    </a:p>
                  </a:txBody>
                </a:tc>
                <a:tc>
                  <a:txBody>
                    <a:bodyPr/>
                    <a:lstStyle/>
                    <a:p>
                      <a:pPr lvl="0" indent="0" marL="0">
                        <a:buNone/>
                      </a:pPr>
                      <a:r>
                        <a:rPr/>
                        <a:t>Share-out report</a:t>
                      </a:r>
                    </a:p>
                  </a:txBody>
                </a:tc>
                <a:tc>
                  <a:txBody>
                    <a:bodyPr/>
                    <a:lstStyle/>
                    <a:p>
                      <a:pPr lvl="0" indent="0" marL="0">
                        <a:buNone/>
                      </a:pPr>
                      <a:r>
                        <a:rPr/>
                        <a:t>21</a:t>
                      </a:r>
                    </a:p>
                  </a:txBody>
                </a:tc>
                <a:tc>
                  <a:txBody>
                    <a:bodyPr/>
                    <a:lstStyle/>
                    <a:p>
                      <a:pPr lvl="0" indent="0" marL="0">
                        <a:buNone/>
                      </a:pPr>
                      <a:r>
                        <a:rPr/>
                        <a:t>oyo</a:t>
                      </a:r>
                    </a:p>
                  </a:txBody>
                </a:tc>
                <a:tc>
                  <a:txBody>
                    <a:bodyPr/>
                    <a:lstStyle/>
                    <a:p>
                      <a:endParaRPr/>
                    </a:p>
                  </a:txBody>
                </a:tc>
                <a:tc>
                  <a:txBody>
                    <a:bodyPr/>
                    <a:lstStyle/>
                    <a:p>
                      <a:pPr lvl="0" indent="0" marL="0">
                        <a:buNone/>
                      </a:pPr>
                      <a:r>
                        <a:rPr/>
                        <a:t>Hand-written</a:t>
                      </a:r>
                    </a:p>
                  </a:txBody>
                </a:tc>
              </a:tr>
            </a:tbl>
          </a:graphicData>
        </a:graphic>
      </p:graphicFrame>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83297"/>
            <a:ext cx="8229600" cy="857250"/>
          </a:xfrm>
          <a:prstGeom prst="rect">
            <a:avLst/>
          </a:prstGeom>
        </p:spPr>
        <p:txBody>
          <a:bodyPr/>
          <a:lstStyle/>
          <a:p>
            <a:pPr lvl="0" indent="0" marL="0">
              <a:buNone/>
            </a:pPr>
            <a:r>
              <a:rPr/>
              <a:t>A1) Prompt: Can computers think? Why or why not? What does it mean, to “think”?</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83297"/>
            <a:ext cx="8229600" cy="857250"/>
          </a:xfrm>
          <a:prstGeom prst="rect">
            <a:avLst/>
          </a:prstGeom>
        </p:spPr>
        <p:txBody>
          <a:bodyPr/>
          <a:lstStyle/>
          <a:p>
            <a:pPr lvl="0" indent="0" marL="0">
              <a:buNone/>
            </a:pPr>
            <a:r>
              <a:rPr/>
              <a:t>A2) Programs for Human Turtles</a:t>
            </a:r>
          </a:p>
        </p:txBody>
      </p:sp>
      <p:sp>
        <p:nvSpPr>
          <p:cNvPr id="3" name="Content Placeholder 2"/>
          <p:cNvSpPr>
            <a:spLocks noGrp="1"/>
          </p:cNvSpPr>
          <p:nvPr>
            <p:ph idx="1"/>
          </p:nvPr>
        </p:nvSpPr>
        <p:spPr/>
        <p:txBody>
          <a:bodyPr/>
          <a:lstStyle/>
          <a:p>
            <a:pPr lvl="0" indent="-342900" marL="342900">
              <a:buAutoNum type="arabicPeriod"/>
            </a:pPr>
            <a:r>
              <a:rPr/>
              <a:t>Fold this sheet into thirds &amp; turn it over.</a:t>
            </a:r>
          </a:p>
          <a:p>
            <a:pPr lvl="0" indent="-342900" marL="342900">
              <a:buAutoNum type="arabicPeriod"/>
            </a:pPr>
            <a:r>
              <a:rPr/>
              <a:t>On the back top third, draw something that could have been drawn by the Turtle robot.</a:t>
            </a:r>
          </a:p>
          <a:p>
            <a:pPr lvl="0" indent="-342900" marL="342900">
              <a:buAutoNum type="arabicPeriod"/>
            </a:pPr>
            <a:r>
              <a:rPr/>
              <a:t>On the front, in the top two thirds, write instructions (in English) for the robot to create this drawing.</a:t>
            </a:r>
          </a:p>
          <a:p>
            <a:pPr lvl="0" indent="-342900" marL="342900">
              <a:buAutoNum type="arabicPeriod"/>
            </a:pPr>
            <a:r>
              <a:rPr/>
              <a:t>Swap your instructions with someone who didn’t see your drawing.</a:t>
            </a:r>
          </a:p>
          <a:p>
            <a:pPr lvl="0" indent="-342900" marL="342900">
              <a:buAutoNum type="arabicPeriod"/>
            </a:pPr>
            <a:r>
              <a:rPr b="1"/>
              <a:t>Without looking at the drawing on the back</a:t>
            </a:r>
            <a:r>
              <a:rPr/>
              <a:t> draw a picture following the instructions.</a:t>
            </a:r>
          </a:p>
          <a:p>
            <a:pPr lvl="0" indent="-342900" marL="342900">
              <a:buAutoNum type="arabicPeriod"/>
            </a:pPr>
            <a:r>
              <a:rPr/>
              <a:t>Fold down the top third and see - how closely does your drawing match the original?</a:t>
            </a:r>
          </a:p>
          <a:p>
            <a:pPr lvl="0" indent="0" marL="0">
              <a:buNone/>
            </a:pPr>
            <a:r>
              <a:rPr/>
              <a:t>……………………………………………………………………………………………………………………</a:t>
            </a:r>
          </a:p>
          <a:p>
            <a:pPr lvl="0" indent="0" marL="0">
              <a:buNone/>
            </a:pPr>
            <a:r>
              <a:rPr/>
              <a:t>instructions:</a:t>
            </a:r>
          </a:p>
          <a:p>
            <a:pPr lvl="0" indent="0" marL="0">
              <a:buNone/>
            </a:pPr>
            <a:r>
              <a:rPr/>
              <a:t>…………………………………………………………………………………………………………………… leave blank for drawing:</a:t>
            </a:r>
          </a:p>
          <a:p>
            <a:pPr lvl="0" indent="0" marL="0">
              <a:buNone/>
            </a:pPr>
            <a:r>
              <a:rPr/>
              <a:t>……</a:t>
            </a:r>
          </a:p>
          <a:p>
            <a:pPr lvl="0" indent="0" marL="0">
              <a:buNone/>
            </a:pPr>
            <a:r>
              <a:rPr/>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83297"/>
            <a:ext cx="8229600" cy="857250"/>
          </a:xfrm>
          <a:prstGeom prst="rect">
            <a:avLst/>
          </a:prstGeom>
        </p:spPr>
        <p:txBody>
          <a:bodyPr/>
          <a:lstStyle/>
          <a:p>
            <a:pPr lvl="0" indent="0" marL="0">
              <a:buNone/>
            </a:pPr>
            <a:r>
              <a:rPr/>
              <a:t>A3) Computers, Algorithms and Programs</a:t>
            </a:r>
          </a:p>
        </p:txBody>
      </p:sp>
      <p:sp>
        <p:nvSpPr>
          <p:cNvPr id="3" name="Content Placeholder 2"/>
          <p:cNvSpPr>
            <a:spLocks noGrp="1"/>
          </p:cNvSpPr>
          <p:nvPr>
            <p:ph idx="1"/>
          </p:nvPr>
        </p:nvSpPr>
        <p:spPr/>
        <p:txBody>
          <a:bodyPr/>
          <a:lstStyle/>
          <a:p>
            <a:pPr lvl="0"/>
            <a:r>
              <a:rPr/>
              <a:t>Take a look at </a:t>
            </a:r>
            <a:r>
              <a:rPr b="1"/>
              <a:t>Runestone Chapters 1 &amp; 2</a:t>
            </a:r>
            <a:r>
              <a:rPr/>
              <a:t> … feel free to look at it while answering these questions and during today’s discussion</a:t>
            </a:r>
          </a:p>
          <a:p>
            <a:pPr lvl="0" indent="-342900" marL="342900">
              <a:buAutoNum startAt="0" type="arabicPeriod"/>
            </a:pPr>
            <a:r>
              <a:rPr/>
              <a:t>Name some parts of a computer.</a:t>
            </a:r>
          </a:p>
          <a:p>
            <a:pPr lvl="1" indent="0" marL="342900">
              <a:buNone/>
            </a:pPr>
            <a:r>
              <a:rPr/>
              <a:t>………………………………………………………………………………………………</a:t>
            </a:r>
          </a:p>
          <a:p>
            <a:pPr lvl="1" indent="0" marL="342900">
              <a:buNone/>
            </a:pPr>
            <a:r>
              <a:rPr/>
              <a:t>………………………………………………………………………………………………</a:t>
            </a:r>
          </a:p>
          <a:p>
            <a:pPr lvl="1" indent="0" marL="342900">
              <a:buNone/>
            </a:pPr>
            <a:r>
              <a:rPr/>
              <a:t>………………………………………………………………………………………………</a:t>
            </a:r>
          </a:p>
          <a:p>
            <a:pPr lvl="1" indent="0" marL="342900">
              <a:buNone/>
            </a:pPr>
            <a:r>
              <a:rPr/>
              <a:t>………………………………………………………………………………………………</a:t>
            </a:r>
          </a:p>
          <a:p>
            <a:pPr lvl="0" indent="-342900" marL="342900">
              <a:buAutoNum startAt="0" type="arabicPeriod"/>
            </a:pPr>
            <a:r>
              <a:rPr/>
              <a:t>Where are the programs you write stored when the computer is powered off? Why?</a:t>
            </a:r>
          </a:p>
          <a:p>
            <a:pPr lvl="1" indent="0" marL="342900">
              <a:buNone/>
            </a:pPr>
            <a:r>
              <a:rPr/>
              <a:t>………………………………………………………………………………………………</a:t>
            </a:r>
          </a:p>
          <a:p>
            <a:pPr lvl="1" indent="0" marL="342900">
              <a:buNone/>
            </a:pPr>
            <a:r>
              <a:rPr/>
              <a:t>………………………………………………………………………………………………</a:t>
            </a:r>
          </a:p>
          <a:p>
            <a:pPr lvl="1" indent="0" marL="342900">
              <a:buNone/>
            </a:pPr>
            <a:r>
              <a:rPr/>
              <a:t>………………………………………………………………………………………………</a:t>
            </a:r>
          </a:p>
          <a:p>
            <a:pPr lvl="1" indent="0" marL="342900">
              <a:buNone/>
            </a:pPr>
            <a:r>
              <a:rPr/>
              <a:t>………………………………………………………………………………………………</a:t>
            </a:r>
          </a:p>
          <a:p>
            <a:pPr lvl="0" indent="-342900" marL="342900">
              <a:buAutoNum startAt="0" type="arabicPeriod"/>
            </a:pPr>
            <a:r>
              <a:rPr/>
              <a:t>Where are the programs currently running on a computer stored? Why?</a:t>
            </a:r>
          </a:p>
          <a:p>
            <a:pPr lvl="1" indent="0" marL="342900">
              <a:buNone/>
            </a:pPr>
            <a:r>
              <a:rPr/>
              <a:t>………………………………………………………………………………………………</a:t>
            </a:r>
          </a:p>
          <a:p>
            <a:pPr lvl="1" indent="0" marL="342900">
              <a:buNone/>
            </a:pPr>
            <a:r>
              <a:rPr/>
              <a:t>………………………………………………………………………………………………</a:t>
            </a:r>
          </a:p>
          <a:p>
            <a:pPr lvl="1" indent="0" marL="342900">
              <a:buNone/>
            </a:pPr>
            <a:r>
              <a:rPr/>
              <a:t>………………………………………………………………………………………………</a:t>
            </a:r>
          </a:p>
          <a:p>
            <a:pPr lvl="1" indent="0" marL="342900">
              <a:buNone/>
            </a:pPr>
            <a:r>
              <a:rPr/>
              <a:t>………………………………………………………………………………………………</a:t>
            </a:r>
          </a:p>
          <a:p>
            <a:pPr lvl="0" indent="-342900" marL="342900">
              <a:buAutoNum startAt="0" type="arabicPeriod"/>
            </a:pPr>
            <a:r>
              <a:rPr/>
              <a:t>What is a reserved word in Python? Name a few.</a:t>
            </a:r>
          </a:p>
          <a:p>
            <a:pPr lvl="1" indent="0" marL="342900">
              <a:buNone/>
            </a:pPr>
            <a:r>
              <a:rPr/>
              <a:t>………………………………………………………………………………………………</a:t>
            </a:r>
          </a:p>
          <a:p>
            <a:pPr lvl="1" indent="0" marL="342900">
              <a:buNone/>
            </a:pPr>
            <a:r>
              <a:rPr/>
              <a:t>………………………………………………………………………………………………</a:t>
            </a:r>
          </a:p>
          <a:p>
            <a:pPr lvl="1" indent="0" marL="342900">
              <a:buNone/>
            </a:pPr>
            <a:r>
              <a:rPr/>
              <a:t>………………………………………………………………………………………………</a:t>
            </a:r>
          </a:p>
          <a:p>
            <a:pPr lvl="1" indent="0" marL="342900">
              <a:buNone/>
            </a:pPr>
            <a:r>
              <a:rPr/>
              <a:t>………………………………………………………………………………………………</a:t>
            </a:r>
          </a:p>
          <a:p>
            <a:pPr lvl="0" indent="-342900" marL="342900">
              <a:buAutoNum startAt="0" type="arabicPeriod"/>
            </a:pPr>
            <a:r>
              <a:rPr/>
              <a:t>How would you describe the difference between an interpreted programming language and a compiled programming language?</a:t>
            </a:r>
          </a:p>
          <a:p>
            <a:pPr lvl="1" indent="0" marL="342900">
              <a:buNone/>
            </a:pPr>
            <a:r>
              <a:rPr/>
              <a:t>………………………………………………………………………………………………</a:t>
            </a:r>
          </a:p>
          <a:p>
            <a:pPr lvl="1" indent="0" marL="342900">
              <a:buNone/>
            </a:pPr>
            <a:r>
              <a:rPr/>
              <a:t>………………………………………………………………………………………………</a:t>
            </a:r>
          </a:p>
          <a:p>
            <a:pPr lvl="1" indent="0" marL="342900">
              <a:buNone/>
            </a:pPr>
            <a:r>
              <a:rPr/>
              <a:t>………………………………………………………………………………………………</a:t>
            </a:r>
          </a:p>
          <a:p>
            <a:pPr lvl="1" indent="0" marL="342900">
              <a:buNone/>
            </a:pPr>
            <a:r>
              <a:rPr/>
              <a:t>………………………………………………………………………………………………</a:t>
            </a:r>
          </a:p>
          <a:p>
            <a:pPr lvl="0" indent="-342900" marL="342900">
              <a:buAutoNum startAt="0" type="arabicPeriod"/>
            </a:pPr>
            <a:r>
              <a:rPr/>
              <a:t>Describe some pros and cons of interpreted and compiled programming languages.</a:t>
            </a:r>
          </a:p>
          <a:p>
            <a:pPr lvl="1" indent="0" marL="342900">
              <a:buNone/>
            </a:pPr>
            <a:r>
              <a:rPr/>
              <a:t>………………………………………………………………………………………………</a:t>
            </a:r>
          </a:p>
          <a:p>
            <a:pPr lvl="1" indent="0" marL="342900">
              <a:buNone/>
            </a:pPr>
            <a:r>
              <a:rPr/>
              <a:t>………………………………………………………………………………………………</a:t>
            </a:r>
          </a:p>
          <a:p>
            <a:pPr lvl="1" indent="0" marL="342900">
              <a:buNone/>
            </a:pPr>
            <a:r>
              <a:rPr/>
              <a:t>………………………………………………………………………………………………</a:t>
            </a:r>
          </a:p>
          <a:p>
            <a:pPr lvl="1" indent="0" marL="342900">
              <a:buNone/>
            </a:pPr>
            <a:r>
              <a:rPr/>
              <a:t>………………………………………………………………………………………………</a:t>
            </a:r>
          </a:p>
          <a:p>
            <a:pPr lvl="0" indent="-342900" marL="342900">
              <a:buAutoNum startAt="0" type="arabicPeriod"/>
            </a:pPr>
            <a:r>
              <a:rPr/>
              <a:t>Can more than one algorithm be used to solve a problem? Why or why not?</a:t>
            </a:r>
          </a:p>
          <a:p>
            <a:pPr lvl="1" indent="0" marL="342900">
              <a:buNone/>
            </a:pPr>
            <a:r>
              <a:rPr/>
              <a:t>………………………………………………………………………………………………</a:t>
            </a:r>
          </a:p>
          <a:p>
            <a:pPr lvl="1" indent="0" marL="342900">
              <a:buNone/>
            </a:pPr>
            <a:r>
              <a:rPr/>
              <a:t>………………………………………………………………………………………………</a:t>
            </a:r>
          </a:p>
          <a:p>
            <a:pPr lvl="1" indent="0" marL="342900">
              <a:buNone/>
            </a:pPr>
            <a:r>
              <a:rPr/>
              <a:t>………………………………………………………………………………………………</a:t>
            </a:r>
          </a:p>
          <a:p>
            <a:pPr lvl="1" indent="0" marL="342900">
              <a:buNone/>
            </a:pPr>
            <a:r>
              <a:rPr/>
              <a:t>………………………………………………………………………………………………</a:t>
            </a:r>
          </a:p>
          <a:p>
            <a:pPr lvl="0" indent="-342900" marL="342900">
              <a:buAutoNum startAt="0" type="arabicPeriod"/>
            </a:pPr>
            <a:r>
              <a:rPr/>
              <a:t>Can an algorithm be written in more than one programming language? Why or why not?</a:t>
            </a:r>
          </a:p>
          <a:p>
            <a:pPr lvl="1" indent="0" marL="342900">
              <a:buNone/>
            </a:pPr>
            <a:r>
              <a:rPr/>
              <a:t>………………………………………………………………………………………………</a:t>
            </a:r>
          </a:p>
          <a:p>
            <a:pPr lvl="1" indent="0" marL="342900">
              <a:buNone/>
            </a:pPr>
            <a:r>
              <a:rPr/>
              <a:t>………………………………………………………………………………………………</a:t>
            </a:r>
          </a:p>
          <a:p>
            <a:pPr lvl="1" indent="0" marL="342900">
              <a:buNone/>
            </a:pPr>
            <a:r>
              <a:rPr/>
              <a:t>………………………………………………………………………………………………</a:t>
            </a:r>
          </a:p>
          <a:p>
            <a:pPr lvl="1" indent="0" marL="342900">
              <a:buNone/>
            </a:pPr>
            <a:r>
              <a:rPr/>
              <a:t>………………………………………………………………………………………………</a:t>
            </a:r>
          </a:p>
          <a:p>
            <a:pPr lvl="0" indent="-342900" marL="342900">
              <a:buAutoNum startAt="0" type="arabicPeriod"/>
            </a:pPr>
            <a:r>
              <a:rPr/>
              <a:t>What is a function? Why might functions be useful?</a:t>
            </a:r>
          </a:p>
          <a:p>
            <a:pPr lvl="1" indent="0" marL="342900">
              <a:buNone/>
            </a:pPr>
            <a:r>
              <a:rPr/>
              <a:t>………………………………………………………………………………………………</a:t>
            </a:r>
          </a:p>
          <a:p>
            <a:pPr lvl="1" indent="0" marL="342900">
              <a:buNone/>
            </a:pPr>
            <a:r>
              <a:rPr/>
              <a:t>………………………………………………………………………………………………</a:t>
            </a:r>
          </a:p>
          <a:p>
            <a:pPr lvl="1" indent="0" marL="342900">
              <a:buNone/>
            </a:pPr>
            <a:r>
              <a:rPr/>
              <a:t>………………………………………………………………………………………………</a:t>
            </a:r>
          </a:p>
          <a:p>
            <a:pPr lvl="1" indent="0" marL="342900">
              <a:buNone/>
            </a:pPr>
            <a:r>
              <a:rPr/>
              <a:t>………………………………………………………………………………………………</a:t>
            </a:r>
          </a:p>
          <a:p>
            <a:pPr lvl="0" indent="-342900" marL="342900">
              <a:buAutoNum startAt="0" type="arabicPeriod"/>
            </a:pPr>
            <a:r>
              <a:rPr/>
              <a:t>What is a parameter?</a:t>
            </a:r>
          </a:p>
          <a:p>
            <a:pPr lvl="1" indent="0" marL="342900">
              <a:buNone/>
            </a:pPr>
            <a:r>
              <a:rPr/>
              <a:t>………………………………………………………………………………………………</a:t>
            </a:r>
          </a:p>
          <a:p>
            <a:pPr lvl="1" indent="0" marL="342900">
              <a:buNone/>
            </a:pPr>
            <a:r>
              <a:rPr/>
              <a:t>………………………………………………………………………………………………</a:t>
            </a:r>
          </a:p>
          <a:p>
            <a:pPr lvl="1" indent="0" marL="342900">
              <a:buNone/>
            </a:pPr>
            <a:r>
              <a:rPr/>
              <a:t>………………………………………………………………………………………………</a:t>
            </a:r>
          </a:p>
          <a:p>
            <a:pPr lvl="1" indent="0" marL="342900">
              <a:buNone/>
            </a:pPr>
            <a:r>
              <a:rPr/>
              <a:t>………………………………………………………………………………………………</a:t>
            </a:r>
          </a:p>
          <a:p>
            <a:pPr lvl="0" indent="-342900" marL="342900">
              <a:buAutoNum startAt="0" type="arabicPeriod"/>
            </a:pPr>
            <a:r>
              <a:rPr/>
              <a:t>What is an argument?</a:t>
            </a:r>
          </a:p>
          <a:p>
            <a:pPr lvl="1" indent="0" marL="342900">
              <a:buNone/>
            </a:pPr>
            <a:r>
              <a:rPr/>
              <a:t>………………………………………………………………………………………………</a:t>
            </a:r>
          </a:p>
          <a:p>
            <a:pPr lvl="1" indent="0" marL="342900">
              <a:buNone/>
            </a:pPr>
            <a:r>
              <a:rPr/>
              <a:t>………………………………………………………………………………………………</a:t>
            </a:r>
          </a:p>
          <a:p>
            <a:pPr lvl="1" indent="0" marL="342900">
              <a:buNone/>
            </a:pPr>
            <a:r>
              <a:rPr/>
              <a:t>………………………………………………………………………………………………</a:t>
            </a:r>
          </a:p>
          <a:p>
            <a:pPr lvl="1" indent="0" marL="342900">
              <a:buNone/>
            </a:pPr>
            <a:r>
              <a:rPr/>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
                                            <p:txEl>
                                              <p:pRg st="20" end="20"/>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
                                            <p:txEl>
                                              <p:pRg st="21" end="21"/>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3">
                                            <p:txEl>
                                              <p:pRg st="22" end="22"/>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3">
                                            <p:txEl>
                                              <p:pRg st="23" end="23"/>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3">
                                            <p:txEl>
                                              <p:pRg st="24" end="24"/>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3">
                                            <p:txEl>
                                              <p:pRg st="25" end="25"/>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3">
                                            <p:txEl>
                                              <p:pRg st="26" end="26"/>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3">
                                            <p:txEl>
                                              <p:pRg st="27" end="27"/>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3">
                                            <p:txEl>
                                              <p:pRg st="28" end="28"/>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3">
                                            <p:txEl>
                                              <p:pRg st="29" end="29"/>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3">
                                            <p:txEl>
                                              <p:pRg st="30" end="30"/>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3">
                                            <p:txEl>
                                              <p:pRg st="31" end="31"/>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3">
                                            <p:txEl>
                                              <p:pRg st="32" end="32"/>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3">
                                            <p:txEl>
                                              <p:pRg st="33" end="33"/>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3">
                                            <p:txEl>
                                              <p:pRg st="34" end="34"/>
                                            </p:txEl>
                                          </p:spTgt>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3">
                                            <p:txEl>
                                              <p:pRg st="35" end="35"/>
                                            </p:txEl>
                                          </p:spTgt>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3">
                                            <p:txEl>
                                              <p:pRg st="36" end="36"/>
                                            </p:txEl>
                                          </p:spTgt>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3">
                                            <p:txEl>
                                              <p:pRg st="37" end="37"/>
                                            </p:txEl>
                                          </p:spTgt>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3">
                                            <p:txEl>
                                              <p:pRg st="38" end="38"/>
                                            </p:txEl>
                                          </p:spTgt>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3">
                                            <p:txEl>
                                              <p:pRg st="39" end="39"/>
                                            </p:txEl>
                                          </p:spTgt>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3">
                                            <p:txEl>
                                              <p:pRg st="40" end="40"/>
                                            </p:txEl>
                                          </p:spTgt>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3">
                                            <p:txEl>
                                              <p:pRg st="41" end="41"/>
                                            </p:txEl>
                                          </p:spTgt>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3">
                                            <p:txEl>
                                              <p:pRg st="42" end="42"/>
                                            </p:txEl>
                                          </p:spTgt>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0"/>
                                          </p:stCondLst>
                                        </p:cTn>
                                        <p:tgtEl>
                                          <p:spTgt spid="3">
                                            <p:txEl>
                                              <p:pRg st="43" end="43"/>
                                            </p:txEl>
                                          </p:spTgt>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grpId="0" nodeType="clickEffect">
                                  <p:stCondLst>
                                    <p:cond delay="0"/>
                                  </p:stCondLst>
                                  <p:childTnLst>
                                    <p:set>
                                      <p:cBhvr>
                                        <p:cTn id="182" dur="1" fill="hold">
                                          <p:stCondLst>
                                            <p:cond delay="0"/>
                                          </p:stCondLst>
                                        </p:cTn>
                                        <p:tgtEl>
                                          <p:spTgt spid="3">
                                            <p:txEl>
                                              <p:pRg st="44" end="44"/>
                                            </p:txEl>
                                          </p:spTgt>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grpId="0" nodeType="clickEffect">
                                  <p:stCondLst>
                                    <p:cond delay="0"/>
                                  </p:stCondLst>
                                  <p:childTnLst>
                                    <p:set>
                                      <p:cBhvr>
                                        <p:cTn id="186" dur="1" fill="hold">
                                          <p:stCondLst>
                                            <p:cond delay="0"/>
                                          </p:stCondLst>
                                        </p:cTn>
                                        <p:tgtEl>
                                          <p:spTgt spid="3">
                                            <p:txEl>
                                              <p:pRg st="45" end="45"/>
                                            </p:txEl>
                                          </p:spTgt>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grpId="0" nodeType="clickEffect">
                                  <p:stCondLst>
                                    <p:cond delay="0"/>
                                  </p:stCondLst>
                                  <p:childTnLst>
                                    <p:set>
                                      <p:cBhvr>
                                        <p:cTn id="190" dur="1" fill="hold">
                                          <p:stCondLst>
                                            <p:cond delay="0"/>
                                          </p:stCondLst>
                                        </p:cTn>
                                        <p:tgtEl>
                                          <p:spTgt spid="3">
                                            <p:txEl>
                                              <p:pRg st="46" end="46"/>
                                            </p:txEl>
                                          </p:spTgt>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grpId="0" nodeType="clickEffect">
                                  <p:stCondLst>
                                    <p:cond delay="0"/>
                                  </p:stCondLst>
                                  <p:childTnLst>
                                    <p:set>
                                      <p:cBhvr>
                                        <p:cTn id="194" dur="1" fill="hold">
                                          <p:stCondLst>
                                            <p:cond delay="0"/>
                                          </p:stCondLst>
                                        </p:cTn>
                                        <p:tgtEl>
                                          <p:spTgt spid="3">
                                            <p:txEl>
                                              <p:pRg st="47" end="47"/>
                                            </p:txEl>
                                          </p:spTgt>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grpId="0" nodeType="clickEffect">
                                  <p:stCondLst>
                                    <p:cond delay="0"/>
                                  </p:stCondLst>
                                  <p:childTnLst>
                                    <p:set>
                                      <p:cBhvr>
                                        <p:cTn id="198" dur="1" fill="hold">
                                          <p:stCondLst>
                                            <p:cond delay="0"/>
                                          </p:stCondLst>
                                        </p:cTn>
                                        <p:tgtEl>
                                          <p:spTgt spid="3">
                                            <p:txEl>
                                              <p:pRg st="48" end="48"/>
                                            </p:txEl>
                                          </p:spTgt>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grpId="0" nodeType="clickEffect">
                                  <p:stCondLst>
                                    <p:cond delay="0"/>
                                  </p:stCondLst>
                                  <p:childTnLst>
                                    <p:set>
                                      <p:cBhvr>
                                        <p:cTn id="202" dur="1" fill="hold">
                                          <p:stCondLst>
                                            <p:cond delay="0"/>
                                          </p:stCondLst>
                                        </p:cTn>
                                        <p:tgtEl>
                                          <p:spTgt spid="3">
                                            <p:txEl>
                                              <p:pRg st="49" end="49"/>
                                            </p:txEl>
                                          </p:spTgt>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grpId="0" nodeType="clickEffect">
                                  <p:stCondLst>
                                    <p:cond delay="0"/>
                                  </p:stCondLst>
                                  <p:childTnLst>
                                    <p:set>
                                      <p:cBhvr>
                                        <p:cTn id="206" dur="1" fill="hold">
                                          <p:stCondLst>
                                            <p:cond delay="0"/>
                                          </p:stCondLst>
                                        </p:cTn>
                                        <p:tgtEl>
                                          <p:spTgt spid="3">
                                            <p:txEl>
                                              <p:pRg st="50" end="50"/>
                                            </p:txEl>
                                          </p:spTgt>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grpId="0" nodeType="clickEffect">
                                  <p:stCondLst>
                                    <p:cond delay="0"/>
                                  </p:stCondLst>
                                  <p:childTnLst>
                                    <p:set>
                                      <p:cBhvr>
                                        <p:cTn id="210" dur="1" fill="hold">
                                          <p:stCondLst>
                                            <p:cond delay="0"/>
                                          </p:stCondLst>
                                        </p:cTn>
                                        <p:tgtEl>
                                          <p:spTgt spid="3">
                                            <p:txEl>
                                              <p:pRg st="51" end="51"/>
                                            </p:txEl>
                                          </p:spTgt>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grpId="0" nodeType="clickEffect">
                                  <p:stCondLst>
                                    <p:cond delay="0"/>
                                  </p:stCondLst>
                                  <p:childTnLst>
                                    <p:set>
                                      <p:cBhvr>
                                        <p:cTn id="214" dur="1" fill="hold">
                                          <p:stCondLst>
                                            <p:cond delay="0"/>
                                          </p:stCondLst>
                                        </p:cTn>
                                        <p:tgtEl>
                                          <p:spTgt spid="3">
                                            <p:txEl>
                                              <p:pRg st="52" end="52"/>
                                            </p:txEl>
                                          </p:spTgt>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grpId="0" nodeType="clickEffect">
                                  <p:stCondLst>
                                    <p:cond delay="0"/>
                                  </p:stCondLst>
                                  <p:childTnLst>
                                    <p:set>
                                      <p:cBhvr>
                                        <p:cTn id="218" dur="1" fill="hold">
                                          <p:stCondLst>
                                            <p:cond delay="0"/>
                                          </p:stCondLst>
                                        </p:cTn>
                                        <p:tgtEl>
                                          <p:spTgt spid="3">
                                            <p:txEl>
                                              <p:pRg st="53" end="53"/>
                                            </p:txEl>
                                          </p:spTgt>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grpId="0" nodeType="clickEffect">
                                  <p:stCondLst>
                                    <p:cond delay="0"/>
                                  </p:stCondLst>
                                  <p:childTnLst>
                                    <p:set>
                                      <p:cBhvr>
                                        <p:cTn id="222" dur="1" fill="hold">
                                          <p:stCondLst>
                                            <p:cond delay="0"/>
                                          </p:stCondLst>
                                        </p:cTn>
                                        <p:tgtEl>
                                          <p:spTgt spid="3">
                                            <p:txEl>
                                              <p:pRg st="54" end="54"/>
                                            </p:txEl>
                                          </p:spTgt>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grpId="0" nodeType="clickEffect">
                                  <p:stCondLst>
                                    <p:cond delay="0"/>
                                  </p:stCondLst>
                                  <p:childTnLst>
                                    <p:set>
                                      <p:cBhvr>
                                        <p:cTn id="226" dur="1" fill="hold">
                                          <p:stCondLst>
                                            <p:cond delay="0"/>
                                          </p:stCondLst>
                                        </p:cTn>
                                        <p:tgtEl>
                                          <p:spTgt spid="3">
                                            <p:txEl>
                                              <p:pRg st="55" end="5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83297"/>
            <a:ext cx="8229600" cy="857250"/>
          </a:xfrm>
          <a:prstGeom prst="rect">
            <a:avLst/>
          </a:prstGeom>
        </p:spPr>
        <p:txBody>
          <a:bodyPr/>
          <a:lstStyle/>
          <a:p>
            <a:pPr lvl="0" indent="0" marL="0">
              <a:buNone/>
            </a:pPr>
            <a:r>
              <a:rPr/>
              <a:t>A4) Programs for Robots: Working with Reeborg</a:t>
            </a:r>
          </a:p>
        </p:txBody>
      </p:sp>
      <p:sp>
        <p:nvSpPr>
          <p:cNvPr id="3" name="Content Placeholder 2"/>
          <p:cNvSpPr>
            <a:spLocks noGrp="1"/>
          </p:cNvSpPr>
          <p:nvPr>
            <p:ph idx="1"/>
          </p:nvPr>
        </p:nvSpPr>
        <p:spPr/>
        <p:txBody>
          <a:bodyPr/>
          <a:lstStyle/>
          <a:p>
            <a:pPr lvl="0" indent="0" marL="0">
              <a:spcBef>
                <a:spcPts val="3000"/>
              </a:spcBef>
              <a:buNone/>
            </a:pPr>
            <a:r>
              <a:rPr b="1"/>
              <a:t>Paired Programming Instructions</a:t>
            </a:r>
          </a:p>
          <a:p>
            <a:pPr lvl="0"/>
            <a:r>
              <a:rPr/>
              <a:t>Pair programming is a widely utilized programming method popular in industry and academia for the increase in quality it gives to both process (learning, comprehension, memory) and product (algorithm, program, results).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Paired programming guidelines:</a:t>
            </a:r>
          </a:p>
          <a:p>
            <a:pPr lvl="0"/>
            <a:r>
              <a:rPr/>
              <a:t>Roles:</a:t>
            </a:r>
          </a:p>
          <a:p>
            <a:pPr lvl="1"/>
            <a:r>
              <a:rPr/>
              <a:t>driver: has the keyboard and types</a:t>
            </a:r>
          </a:p>
          <a:p>
            <a:pPr lvl="1"/>
            <a:r>
              <a:rPr/>
              <a:t>navigator: guides the driver</a:t>
            </a:r>
          </a:p>
          <a:p>
            <a:pPr lvl="0"/>
            <a:r>
              <a:rPr/>
              <a:t>Instructions:</a:t>
            </a:r>
          </a:p>
          <a:p>
            <a:pPr lvl="1"/>
            <a:r>
              <a:rPr/>
              <a:t>You should be talking to each other constantly!</a:t>
            </a:r>
          </a:p>
          <a:p>
            <a:pPr lvl="1"/>
            <a:r>
              <a:rPr/>
              <a:t>You should be able to swap roles at any moment.</a:t>
            </a:r>
          </a:p>
          <a:p>
            <a:pPr lvl="1"/>
            <a:r>
              <a:rPr/>
              <a:t>Swap roles every 5 to 10 minutes.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pairprogramming.png" id="0" name="Picture 1"/>
          <p:cNvPicPr>
            <a:picLocks noGrp="1" noChangeAspect="1"/>
          </p:cNvPicPr>
          <p:nvPr/>
        </p:nvPicPr>
        <p:blipFill>
          <a:blip r:embed="rId2"/>
          <a:stretch>
            <a:fillRect/>
          </a:stretch>
        </p:blipFill>
        <p:spPr bwMode="auto">
          <a:xfrm>
            <a:off x="2146300" y="1651000"/>
            <a:ext cx="4851400" cy="24257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Pair Programming</a:t>
            </a:r>
          </a:p>
        </p:txBody>
      </p:sp>
      <p:sp>
        <p:nvSpPr>
          <p:cNvPr id="3" name="Content Placeholder 2"/>
          <p:cNvSpPr>
            <a:spLocks noGrp="1"/>
          </p:cNvSpPr>
          <p:nvPr>
            <p:ph idx="1"/>
          </p:nvPr>
        </p:nvSpPr>
        <p:spPr/>
        <p:txBody>
          <a:bodyPr/>
          <a:lstStyle/>
          <a:p>
            <a:pPr lvl="0"/>
            <a:r>
              <a:rPr/>
              <a:t>Note that most programming we do in class will be pair programming. The exceptions will be in-class practical exams where each student will work independently.</a:t>
            </a:r>
          </a:p>
          <a:p>
            <a:pPr lvl="0"/>
            <a:r>
              <a:rPr/>
              <a:t>You will have the opportunity to practice indeipendent programming when finishing up assignments you don’t finish in class, doing on assignments we don’t start in class and doing your projects.</a:t>
            </a:r>
          </a:p>
          <a:p>
            <a:pPr lvl="0" indent="0" marL="0">
              <a:buNone/>
            </a:pPr>
            <a:r>
              <a:rPr/>
              <a:t>From the course website, under Resources, follow the link to Reeborg’s World, or type out the url: </a:t>
            </a:r>
            <a:r>
              <a:rPr>
                <a:hlinkClick r:id="rId3"/>
              </a:rPr>
              <a:t>https://reeborg.ca/reeborg.html</a:t>
            </a:r>
          </a:p>
          <a:p>
            <a:pPr lvl="0" indent="-342900" marL="342900">
              <a:buAutoNum type="arabicPeriod"/>
            </a:pPr>
            <a:r>
              <a:rPr/>
              <a:t>Write programs to make Reeborg walk the following patterns. Save each program in separate files.</a:t>
            </a:r>
          </a:p>
          <a:p>
            <a:pPr lvl="0" indent="-342900" marL="342900">
              <a:buAutoNum startAt="2" type="arabicPeriod"/>
            </a:pPr>
            <a:r>
              <a:rPr/>
              <a:t>In english (not code), what is your algorithm for each pattern?</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0"/>
            <a:r>
              <a:rPr/>
              <a:t>To save, choose “Save program to file” from the “Program in editor” section of the “Additional options” menu.</a:t>
            </a:r>
          </a:p>
          <a:p>
            <a:pPr lvl="0"/>
            <a:r>
              <a:rPr/>
              <a:t>Note: Python programs are saved as text files, but the file names have the extension </a:t>
            </a:r>
            <a:r>
              <a:rPr>
                <a:latin typeface="Courier"/>
              </a:rPr>
              <a:t>.py</a:t>
            </a:r>
          </a:p>
          <a:p>
            <a:pPr lvl="0" indent="-342900" marL="342900">
              <a:buAutoNum startAt="3" type="arabicPeriod"/>
            </a:pPr>
            <a:r>
              <a:rPr/>
              <a:t>Upload each file to your Google drive, or email to yourself, so you can print out these files to submit with your portfolio.</a:t>
            </a:r>
          </a:p>
          <a:p>
            <a:pPr lvl="0" indent="0" marL="0">
              <a:buNone/>
            </a:pPr>
            <a:r>
              <a:rPr b="1"/>
              <a:t>For portfolio submission, insert you printed program pages here.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
                                            <p:txEl>
                                              <p:pRg st="14" end="1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
                                            <p:txEl>
                                              <p:pRg st="15" end="1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
                                            <p:txEl>
                                              <p:pRg st="16" end="1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
                                            <p:txEl>
                                              <p:pRg st="17" end="17"/>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83297"/>
            <a:ext cx="8229600" cy="857250"/>
          </a:xfrm>
          <a:prstGeom prst="rect">
            <a:avLst/>
          </a:prstGeom>
        </p:spPr>
        <p:txBody>
          <a:bodyPr/>
          <a:lstStyle/>
          <a:p>
            <a:pPr lvl="0" indent="0" marL="0">
              <a:buNone/>
            </a:pPr>
            <a:r>
              <a:rPr/>
              <a:t>A5) Programs for Robots: Delivering a newspaper</a:t>
            </a:r>
          </a:p>
        </p:txBody>
      </p:sp>
      <p:pic>
        <p:nvPicPr>
          <p:cNvPr descr="images/newspaper0_world.png" id="0" name="Picture 1"/>
          <p:cNvPicPr>
            <a:picLocks noGrp="1" noChangeAspect="1"/>
          </p:cNvPicPr>
          <p:nvPr/>
        </p:nvPicPr>
        <p:blipFill>
          <a:blip r:embed="rId2"/>
          <a:stretch>
            <a:fillRect/>
          </a:stretch>
        </p:blipFill>
        <p:spPr bwMode="auto">
          <a:xfrm>
            <a:off x="2730500" y="1651000"/>
            <a:ext cx="3683000" cy="24257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Reeborg Newspaper 0</a:t>
            </a:r>
          </a:p>
        </p:txBody>
      </p:sp>
      <p:sp>
        <p:nvSpPr>
          <p:cNvPr id="3" name="Content Placeholder 2"/>
          <p:cNvSpPr>
            <a:spLocks noGrp="1"/>
          </p:cNvSpPr>
          <p:nvPr>
            <p:ph idx="1"/>
          </p:nvPr>
        </p:nvSpPr>
        <p:spPr/>
        <p:txBody>
          <a:bodyPr/>
          <a:lstStyle/>
          <a:p>
            <a:pPr lvl="0" indent="-342900" marL="342900">
              <a:buAutoNum type="arabicPeriod"/>
            </a:pPr>
            <a:r>
              <a:rPr/>
              <a:t>Select the </a:t>
            </a:r>
            <a:r>
              <a:rPr>
                <a:latin typeface="Courier"/>
              </a:rPr>
              <a:t>Newspaper 0</a:t>
            </a:r>
            <a:r>
              <a:rPr/>
              <a:t> world. It should look like the image above. Find the “World Info” button, just to the right of the upper right hand corner of the above screenshot. What is the goal in this world?</a:t>
            </a:r>
          </a:p>
          <a:p>
            <a:pPr lvl="1" indent="0" marL="342900">
              <a:buNone/>
            </a:pPr>
            <a:r>
              <a:rPr/>
              <a:t>………………………………………………………………………………………………</a:t>
            </a:r>
          </a:p>
          <a:p>
            <a:pPr lvl="1" indent="0" marL="342900">
              <a:buNone/>
            </a:pPr>
            <a:r>
              <a:rPr/>
              <a:t>………………………………………………………………………………………………</a:t>
            </a:r>
          </a:p>
          <a:p>
            <a:pPr lvl="1" indent="0" marL="342900">
              <a:buNone/>
            </a:pPr>
            <a:r>
              <a:rPr/>
              <a:t>………………………………………………………………………………………………</a:t>
            </a:r>
          </a:p>
          <a:p>
            <a:pPr lvl="1" indent="0" marL="342900">
              <a:buNone/>
            </a:pPr>
            <a:r>
              <a:rPr/>
              <a:t>………………………………………………………………………………………………</a:t>
            </a:r>
          </a:p>
          <a:p>
            <a:pPr lvl="0" indent="-342900" marL="342900">
              <a:buAutoNum type="arabicPeriod"/>
            </a:pPr>
            <a:r>
              <a:rPr/>
              <a:t>In english (not code), what is your algorithm for your solution?</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0" indent="-342900" marL="342900">
              <a:buAutoNum type="arabicPeriod"/>
            </a:pPr>
            <a:r>
              <a:rPr/>
              <a:t>Write a program to implement your algorithm and solve </a:t>
            </a:r>
            <a:r>
              <a:rPr>
                <a:latin typeface="Courier"/>
              </a:rPr>
              <a:t>Newspaper 0</a:t>
            </a:r>
            <a:r>
              <a:rPr/>
              <a:t>.</a:t>
            </a:r>
          </a:p>
          <a:p>
            <a:pPr lvl="0" indent="-342900" marL="342900">
              <a:buAutoNum type="arabicPeriod"/>
            </a:pPr>
            <a:r>
              <a:rPr/>
              <a:t>Add comments to your program to explain what it’s doing (each step of your algorithm).</a:t>
            </a:r>
          </a:p>
          <a:p>
            <a:pPr lvl="0" indent="-342900" marL="342900">
              <a:buAutoNum type="arabicPeriod"/>
            </a:pPr>
            <a:r>
              <a:rPr/>
              <a:t>Save the program in a file called </a:t>
            </a:r>
            <a:r>
              <a:rPr>
                <a:latin typeface="Courier"/>
              </a:rPr>
              <a:t>newspaper0.py</a:t>
            </a:r>
          </a:p>
          <a:p>
            <a:pPr lvl="0" indent="-342900" marL="342900">
              <a:buAutoNum type="arabicPeriod"/>
            </a:pPr>
            <a:r>
              <a:rPr/>
              <a:t>Submit </a:t>
            </a:r>
            <a:r>
              <a:rPr>
                <a:latin typeface="Courier"/>
              </a:rPr>
              <a:t>newspaper0.py</a:t>
            </a:r>
            <a:r>
              <a:rPr/>
              <a:t> on gradescope:</a:t>
            </a:r>
          </a:p>
          <a:p>
            <a:pPr lvl="1" indent="-342900" marL="685800">
              <a:buAutoNum type="alphaLcPeriod"/>
            </a:pPr>
            <a:r>
              <a:rPr/>
              <a:t>Follow link to gradescope (link can be found on the course website)</a:t>
            </a:r>
          </a:p>
          <a:p>
            <a:pPr lvl="1" indent="-342900" marL="685800">
              <a:buAutoNum type="alphaLcPeriod"/>
            </a:pPr>
            <a:r>
              <a:rPr/>
              <a:t>Select Union College from the list of options</a:t>
            </a:r>
          </a:p>
          <a:p>
            <a:pPr lvl="1" indent="-342900" marL="685800">
              <a:buAutoNum type="alphaLcPeriod"/>
            </a:pPr>
            <a:r>
              <a:rPr/>
              <a:t>Login using your Union College credentials</a:t>
            </a:r>
          </a:p>
          <a:p>
            <a:pPr lvl="1" indent="-342900" marL="685800">
              <a:buAutoNum type="alphaLcPeriod"/>
            </a:pPr>
            <a:r>
              <a:rPr/>
              <a:t>Find the assignment: </a:t>
            </a:r>
            <a:r>
              <a:rPr>
                <a:latin typeface="Courier"/>
              </a:rPr>
              <a:t>In-class Assignment: Newspaper 0</a:t>
            </a:r>
          </a:p>
          <a:p>
            <a:pPr lvl="1" indent="-342900" marL="685800">
              <a:buAutoNum type="alphaLcPeriod"/>
            </a:pPr>
            <a:r>
              <a:rPr/>
              <a:t>Upload </a:t>
            </a:r>
            <a:r>
              <a:rPr>
                <a:latin typeface="Courier"/>
              </a:rPr>
              <a:t>newspaper0.py</a:t>
            </a:r>
            <a:r>
              <a:rPr/>
              <a:t> to the assignment</a:t>
            </a:r>
          </a:p>
          <a:p>
            <a:pPr lvl="0" indent="-342900" marL="342900">
              <a:buAutoNum type="arabicPeriod"/>
            </a:pPr>
            <a:r>
              <a:rPr/>
              <a:t>Did the autograder produce error messages? How might you revise your algorithm and/or program?</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0" indent="-342900" marL="342900">
              <a:buAutoNum type="arabicPeriod"/>
            </a:pPr>
            <a:r>
              <a:rPr/>
              <a:t>Were you able to solve this task? If not, can you think of anything else to try?</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0" indent="-342900" marL="342900">
              <a:buAutoNum type="arabicPeriod"/>
            </a:pPr>
            <a:r>
              <a:rPr/>
              <a:t>Share the code you worked on with your partner(s) before you leave class. Upload it to your Google drive or email it so you can each complete it, if not already done, and print it out.</a:t>
            </a:r>
          </a:p>
          <a:p>
            <a:pPr lvl="0" indent="0" marL="0">
              <a:buNone/>
            </a:pPr>
            <a:r>
              <a:rPr b="1"/>
              <a:t>For portfolio submission, insert you printed program pages here.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
                                            <p:txEl>
                                              <p:pRg st="18" end="1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
                                            <p:txEl>
                                              <p:pRg st="19" end="19"/>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
                                            <p:txEl>
                                              <p:pRg st="20" end="20"/>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
                                            <p:txEl>
                                              <p:pRg st="21" end="21"/>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
                                            <p:txEl>
                                              <p:pRg st="22" end="22"/>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1">
                                            <p:txEl>
                                              <p:pRg st="23" end="23"/>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1">
                                            <p:txEl>
                                              <p:pRg st="24" end="24"/>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1">
                                            <p:txEl>
                                              <p:pRg st="25" end="25"/>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1">
                                            <p:txEl>
                                              <p:pRg st="26" end="26"/>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1">
                                            <p:txEl>
                                              <p:pRg st="27" end="27"/>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1">
                                            <p:txEl>
                                              <p:pRg st="28" end="28"/>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1">
                                            <p:txEl>
                                              <p:pRg st="29" end="29"/>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1">
                                            <p:txEl>
                                              <p:pRg st="30" end="30"/>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1">
                                            <p:txEl>
                                              <p:pRg st="31" end="31"/>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1">
                                            <p:txEl>
                                              <p:pRg st="32" end="32"/>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1">
                                            <p:txEl>
                                              <p:pRg st="33" end="33"/>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1">
                                            <p:txEl>
                                              <p:pRg st="34" end="34"/>
                                            </p:txEl>
                                          </p:spTgt>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1">
                                            <p:txEl>
                                              <p:pRg st="35" end="35"/>
                                            </p:txEl>
                                          </p:spTgt>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1">
                                            <p:txEl>
                                              <p:pRg st="36" end="36"/>
                                            </p:txEl>
                                          </p:spTgt>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1">
                                            <p:txEl>
                                              <p:pRg st="37" end="37"/>
                                            </p:txEl>
                                          </p:spTgt>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1">
                                            <p:txEl>
                                              <p:pRg st="38" end="38"/>
                                            </p:txEl>
                                          </p:spTgt>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1">
                                            <p:txEl>
                                              <p:pRg st="39" end="3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83297"/>
            <a:ext cx="8229600" cy="857250"/>
          </a:xfrm>
          <a:prstGeom prst="rect">
            <a:avLst/>
          </a:prstGeom>
        </p:spPr>
        <p:txBody>
          <a:bodyPr/>
          <a:lstStyle/>
          <a:p>
            <a:pPr lvl="0" indent="0" marL="0">
              <a:buNone/>
            </a:pPr>
            <a:r>
              <a:rPr/>
              <a:t>A6) Check-in Questions, Syntax and Semantics</a:t>
            </a:r>
          </a:p>
        </p:txBody>
      </p:sp>
      <p:sp>
        <p:nvSpPr>
          <p:cNvPr id="3" name="Content Placeholder 2"/>
          <p:cNvSpPr>
            <a:spLocks noGrp="1"/>
          </p:cNvSpPr>
          <p:nvPr>
            <p:ph idx="1"/>
          </p:nvPr>
        </p:nvSpPr>
        <p:spPr/>
        <p:txBody>
          <a:bodyPr/>
          <a:lstStyle/>
          <a:p>
            <a:pPr lvl="0" indent="0" marL="0">
              <a:buNone/>
            </a:pPr>
            <a:r>
              <a:rPr/>
              <a:t>Answer the following questions about Reeborg and Python (Turtle) syntax. Think about what the program syntax looks like and means. Programs can be valid, meaning they have proper syntax, but to be </a:t>
            </a:r>
            <a:r>
              <a:rPr i="1"/>
              <a:t>correct</a:t>
            </a:r>
            <a:r>
              <a:rPr/>
              <a:t> they must also do what the programmer intends them to do, meaning the semantics are right.</a:t>
            </a:r>
          </a:p>
          <a:p>
            <a:pPr lvl="0" indent="0" marL="0">
              <a:buNone/>
            </a:pPr>
            <a:r>
              <a:rPr b="1"/>
              <a:t>Take a look at Runestone Chapter 2 before completing the rest of this portfolio.</a:t>
            </a:r>
          </a:p>
          <a:p>
            <a:pPr lvl="0" indent="-342900" marL="342900">
              <a:buAutoNum type="arabicPeriod"/>
            </a:pPr>
            <a:r>
              <a:rPr/>
              <a:t>Which of the following programs are valid Reeborg programs that cause Reborg to execute a sequence of actions? What’s wrong with the invalid ones? (Assume Reeborg won’t run into walls)</a:t>
            </a:r>
          </a:p>
          <a:p>
            <a:pPr lvl="1" indent="0">
              <a:buNone/>
            </a:pPr>
            <a:r>
              <a:rPr>
                <a:latin typeface="Courier"/>
              </a:rPr>
              <a:t>Move() 
Move()
Move()</a:t>
            </a:r>
          </a:p>
          <a:p>
            <a:pPr lvl="1" indent="0">
              <a:buNone/>
            </a:pPr>
            <a:r>
              <a:rPr>
                <a:latin typeface="Courier"/>
              </a:rPr>
              <a:t>move()
turn_left()
turn_left()
turn_left()
move()</a:t>
            </a:r>
          </a:p>
          <a:p>
            <a:pPr lvl="1" indent="0">
              <a:buNone/>
            </a:pPr>
            <a:r>
              <a:rPr>
                <a:latin typeface="Courier"/>
              </a:rPr>
              <a:t>move()
move()
turn_right()
move()</a:t>
            </a:r>
          </a:p>
          <a:p>
            <a:pPr lvl="1" indent="0">
              <a:buNone/>
            </a:pPr>
            <a:r>
              <a:rPr>
                <a:latin typeface="Courier"/>
              </a:rPr>
              <a:t>move
turn_left
move
move</a:t>
            </a:r>
          </a:p>
          <a:p>
            <a:pPr lvl="0" indent="-342900" marL="342900">
              <a:buAutoNum type="arabicPeriod"/>
            </a:pPr>
            <a:r>
              <a:rPr/>
              <a:t>The following is a function call statement:</a:t>
            </a:r>
            <a:br/>
            <a:r>
              <a:rPr>
                <a:latin typeface="Courier"/>
              </a:rPr>
              <a:t>turn_left()</a:t>
            </a:r>
          </a:p>
          <a:p>
            <a:pPr lvl="1" indent="-342900" marL="685800">
              <a:buAutoNum type="alphaLcPeriod"/>
            </a:pPr>
            <a:r>
              <a:rPr/>
              <a:t>What is the name of the function being called?</a:t>
            </a:r>
          </a:p>
          <a:p>
            <a:pPr lvl="1" indent="0" marL="342900">
              <a:buNone/>
            </a:pPr>
            <a:r>
              <a:rPr/>
              <a:t>………………………………………………………………………………………………</a:t>
            </a:r>
          </a:p>
          <a:p>
            <a:pPr lvl="1" indent="-342900" marL="685800">
              <a:buAutoNum startAt="2" type="alphaLcPeriod"/>
            </a:pPr>
            <a:r>
              <a:rPr/>
              <a:t>What purpose do the parentheses serve?</a:t>
            </a:r>
          </a:p>
          <a:p>
            <a:pPr lvl="1" indent="0" marL="342900">
              <a:buNone/>
            </a:pPr>
            <a:r>
              <a:rPr/>
              <a:t>………………………………………………………………………………………………</a:t>
            </a:r>
          </a:p>
          <a:p>
            <a:pPr lvl="1" indent="-342900" marL="685800">
              <a:buAutoNum startAt="3" type="alphaLcPeriod"/>
            </a:pPr>
            <a:r>
              <a:rPr/>
              <a:t>What is a function?</a:t>
            </a:r>
          </a:p>
          <a:p>
            <a:pPr lvl="1" indent="0" marL="342900">
              <a:buNone/>
            </a:pPr>
            <a:r>
              <a:rPr/>
              <a:t>………………………………………………………………………………………………</a:t>
            </a:r>
          </a:p>
          <a:p>
            <a:pPr lvl="1" indent="0" marL="342900">
              <a:buNone/>
            </a:pPr>
            <a:r>
              <a:rPr/>
              <a:t>………………………………………………………………………………………………</a:t>
            </a:r>
          </a:p>
          <a:p>
            <a:pPr lvl="1" indent="-342900" marL="685800">
              <a:buAutoNum startAt="4" type="alphaLcPeriod"/>
            </a:pPr>
            <a:r>
              <a:rPr/>
              <a:t>What does “calling a function” mean?</a:t>
            </a:r>
          </a:p>
          <a:p>
            <a:pPr lvl="1" indent="0" marL="342900">
              <a:buNone/>
            </a:pPr>
            <a:r>
              <a:rPr/>
              <a:t>………………………………………………………………………………………………</a:t>
            </a:r>
          </a:p>
          <a:p>
            <a:pPr lvl="1" indent="0" marL="342900">
              <a:buNone/>
            </a:pPr>
            <a:r>
              <a:rPr/>
              <a:t>………………………………………………………………………………………………</a:t>
            </a:r>
          </a:p>
          <a:p>
            <a:pPr lvl="0" indent="-342900" marL="342900">
              <a:buAutoNum type="arabicPeriod"/>
            </a:pPr>
            <a:r>
              <a:rPr/>
              <a:t>Consider the following Python program. Draw the pattern that the turtle draws when this program is executed. Also indicate the position and orientation of the turtle after this program has been executed. Hint: The turtle starts out in the center of the turtle window, facing to the right</a:t>
            </a:r>
          </a:p>
          <a:p>
            <a:pPr lvl="0" indent="0">
              <a:buNone/>
            </a:pPr>
            <a:r>
              <a:rPr>
                <a:latin typeface="Courier"/>
              </a:rPr>
              <a:t>import turtle           
turtle.left(90)
turtle.forward(200)
turtle.left(180)
turtle.forward(100)
turtle.left(90)
turtle.forward(100)</a:t>
            </a:r>
          </a:p>
          <a:p>
            <a:pPr lvl="0" indent="-342900" marL="342900">
              <a:buAutoNum startAt="4" type="arabicPeriod"/>
            </a:pPr>
            <a:r>
              <a:rPr/>
              <a:t>Which of the following programs are valid Python programs? Indicate which are valid. For the invalid ones, explain or indicate what is wrong. The import statement isn’t shown, but you can assume that the turtle module has been imported.</a:t>
            </a:r>
          </a:p>
          <a:p>
            <a:pPr lvl="1" indent="0">
              <a:buNone/>
            </a:pPr>
            <a:r>
              <a:rPr>
                <a:latin typeface="Courier"/>
              </a:rPr>
              <a:t>turtle.forward(100)
turtle.right(90)
turtle.forward(100)</a:t>
            </a:r>
          </a:p>
          <a:p>
            <a:pPr lvl="1" indent="0">
              <a:buNone/>
            </a:pPr>
            <a:r>
              <a:rPr>
                <a:latin typeface="Courier"/>
              </a:rPr>
              <a:t>turtle.forward
turtle.left
turtle.forward</a:t>
            </a:r>
          </a:p>
          <a:p>
            <a:pPr lvl="1" indent="0">
              <a:buNone/>
            </a:pPr>
            <a:r>
              <a:rPr>
                <a:latin typeface="Courier"/>
              </a:rPr>
              <a:t>turtle.forward(100)
turtle.turn_right(90)
turtle.forward(100)</a:t>
            </a:r>
          </a:p>
          <a:p>
            <a:pPr lvl="1" indent="0">
              <a:buNone/>
            </a:pPr>
            <a:r>
              <a:rPr>
                <a:latin typeface="Courier"/>
              </a:rPr>
              <a:t>turtle.Forward(100)
turtle.right(90)
turtle.Forward(100)</a:t>
            </a:r>
          </a:p>
          <a:p>
            <a:pPr lvl="0" indent="-342900" marL="342900">
              <a:buAutoNum startAt="4" type="arabicPeriod"/>
            </a:pPr>
            <a:r>
              <a:rPr/>
              <a:t>What required the most thinking — coming up with algorithms, writing programs or communicating in pair programming? Did the activities rquire different </a:t>
            </a:r>
            <a:r>
              <a:rPr i="1"/>
              <a:t>types</a:t>
            </a:r>
            <a:r>
              <a:rPr/>
              <a:t> and/or </a:t>
            </a:r>
            <a:r>
              <a:rPr i="1"/>
              <a:t>amounts</a:t>
            </a:r>
            <a:r>
              <a:rPr/>
              <a:t> of thinking?</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20" end="2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25" end="2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26" end="2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xEl>
                                              <p:pRg st="27" end="27"/>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
                                            <p:txEl>
                                              <p:pRg st="28" end="28"/>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
                                            <p:txEl>
                                              <p:pRg st="29" end="29"/>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
                                            <p:txEl>
                                              <p:pRg st="30" end="30"/>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
                                            <p:txEl>
                                              <p:pRg st="31" end="31"/>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
                                            <p:txEl>
                                              <p:pRg st="32" end="32"/>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3">
                                            <p:txEl>
                                              <p:pRg st="33" end="3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83297"/>
            <a:ext cx="8229600" cy="857250"/>
          </a:xfrm>
          <a:prstGeom prst="rect">
            <a:avLst/>
          </a:prstGeom>
        </p:spPr>
        <p:txBody>
          <a:bodyPr/>
          <a:lstStyle/>
          <a:p>
            <a:pPr lvl="0" indent="0" marL="0">
              <a:buNone/>
            </a:pPr>
            <a:r>
              <a:rPr/>
              <a:t>A7) Tracing (re-)assignment with Memory Diagrams</a:t>
            </a:r>
          </a:p>
        </p:txBody>
      </p:sp>
      <p:sp>
        <p:nvSpPr>
          <p:cNvPr id="3" name="Content Placeholder 2"/>
          <p:cNvSpPr>
            <a:spLocks noGrp="1"/>
          </p:cNvSpPr>
          <p:nvPr>
            <p:ph idx="1"/>
          </p:nvPr>
        </p:nvSpPr>
        <p:spPr/>
        <p:txBody>
          <a:bodyPr/>
          <a:lstStyle/>
          <a:p>
            <a:pPr lvl="0" indent="0" marL="0">
              <a:buNone/>
            </a:pPr>
            <a:r>
              <a:rPr/>
              <a:t>Consider the following snippet of Python code.</a:t>
            </a:r>
          </a:p>
          <a:p>
            <a:pPr lvl="0" indent="0">
              <a:buNone/>
            </a:pPr>
            <a:r>
              <a:rPr>
                <a:latin typeface="Courier"/>
              </a:rPr>
              <a:t>1.  x = 5
2.  y = 10
3.  z = x
4.  x = y + 3
5.  y = z</a:t>
            </a:r>
          </a:p>
          <a:p>
            <a:pPr lvl="0" indent="-342900" marL="342900">
              <a:buAutoNum type="arabicPeriod"/>
            </a:pPr>
            <a:r>
              <a:rPr/>
              <a:t>Draw a memory diagram that shows the </a:t>
            </a:r>
            <a:r>
              <a:rPr>
                <a:latin typeface="Courier"/>
              </a:rPr>
              <a:t>&lt;variable name&gt;-&lt;object/value&gt;</a:t>
            </a:r>
            <a:r>
              <a:rPr/>
              <a:t> associations after line 3 has been executed.</a:t>
            </a:r>
          </a:p>
          <a:p>
            <a:pPr lvl="0" indent="-342900" marL="342900">
              <a:buAutoNum startAt="2" type="arabicPeriod"/>
            </a:pPr>
            <a:r>
              <a:rPr/>
              <a:t>Draw a memory diagram that shows the </a:t>
            </a:r>
            <a:r>
              <a:rPr>
                <a:latin typeface="Courier"/>
              </a:rPr>
              <a:t>&lt;variable name&gt;-&lt;object/value&gt;</a:t>
            </a:r>
            <a:r>
              <a:rPr/>
              <a:t> associations after line 4 has been executed.</a:t>
            </a:r>
          </a:p>
          <a:p>
            <a:pPr lvl="0" indent="-342900" marL="342900">
              <a:buAutoNum startAt="3" type="arabicPeriod"/>
            </a:pPr>
            <a:r>
              <a:rPr/>
              <a:t>Draw a memory diagram that shows the </a:t>
            </a:r>
            <a:r>
              <a:rPr>
                <a:latin typeface="Courier"/>
              </a:rPr>
              <a:t>&lt;variable name&gt;-&lt;object/value&gt;</a:t>
            </a:r>
            <a:r>
              <a:rPr/>
              <a:t> associations after the whole snippet has been executed.</a:t>
            </a:r>
          </a:p>
          <a:p>
            <a:pPr lvl="0" indent="-342900" marL="342900">
              <a:buAutoNum startAt="4" type="arabicPeriod"/>
            </a:pPr>
            <a:r>
              <a:rPr/>
              <a:t>In Python, what happens in the machine’s memory blocks when a variable is assigned to another variable? Do the variables share a memory block, or is a new memory location used? Assume the inital variable was assigned to an integer value.</a:t>
            </a:r>
          </a:p>
          <a:p>
            <a:pPr lvl="0" indent="-342900" marL="342900">
              <a:buAutoNum startAt="5" type="arabicPeriod"/>
            </a:pPr>
            <a:r>
              <a:rPr/>
              <a:t>Depict the process you described above with a diagram/drawing.</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83297"/>
            <a:ext cx="8229600" cy="857250"/>
          </a:xfrm>
          <a:prstGeom prst="rect">
            <a:avLst/>
          </a:prstGeom>
        </p:spPr>
        <p:txBody>
          <a:bodyPr/>
          <a:lstStyle/>
          <a:p>
            <a:pPr lvl="0" indent="0" marL="0">
              <a:buNone/>
            </a:pPr>
            <a:r>
              <a:rPr/>
              <a:t>A8) Arithmetic in Python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Computer programming languages are often designed to handle arithmetic operations such as addition, subtraction, multiplication, division, and exponents. These operations are performed through the use of operators, several of which are listed below:</a:t>
                </a:r>
              </a:p>
              <a:p>
                <a:pPr lvl="0" indent="0" marL="0">
                  <a:buNone/>
                </a:pPr>
                <a14:m>
                  <m:oMathPara xmlns:m="http://schemas.openxmlformats.org/officeDocument/2006/math">
                    <m:oMathParaPr>
                      <m:jc m:val="center"/>
                    </m:oMathParaPr>
                    <m:oMath>
                      <m:r>
                        <m:rPr>
                          <m:sty m:val="p"/>
                        </m:rPr>
                        <m:t>+</m:t>
                      </m:r>
                      <m:r>
                        <m:rPr>
                          <m:sty m:val="p"/>
                        </m:rPr>
                        <m:t>,</m:t>
                      </m:r>
                      <m:r>
                        <m:rPr>
                          <m:sty m:val="p"/>
                        </m:rPr>
                        <m:t>−</m:t>
                      </m:r>
                      <m:r>
                        <m:rPr>
                          <m:sty m:val="p"/>
                        </m:rPr>
                        <m:t>,</m:t>
                      </m:r>
                      <m:r>
                        <m:rPr>
                          <m:sty m:val="p"/>
                        </m:rPr>
                        <m:t>*</m:t>
                      </m:r>
                      <m:r>
                        <m:rPr>
                          <m:sty m:val="p"/>
                        </m:rPr>
                        <m:t>,</m:t>
                      </m:r>
                      <m:r>
                        <m:rPr>
                          <m:sty m:val="p"/>
                        </m:rPr>
                        <m:t>/</m:t>
                      </m:r>
                      <m:r>
                        <m:rPr>
                          <m:sty m:val="p"/>
                        </m:rPr>
                        <m:t>,</m:t>
                      </m:r>
                      <m:r>
                        <m:rPr>
                          <m:sty m:val="p"/>
                        </m:rPr>
                        <m:t>/</m:t>
                      </m:r>
                      <m:r>
                        <m:rPr>
                          <m:sty m:val="p"/>
                        </m:rPr>
                        <m:t>/</m:t>
                      </m:r>
                      <m:r>
                        <m:rPr>
                          <m:sty m:val="p"/>
                        </m:rPr>
                        <m:t>,</m:t>
                      </m:r>
                      <m:r>
                        <m:rPr>
                          <m:sty m:val="p"/>
                        </m:rPr>
                        <m:t>%</m:t>
                      </m:r>
                      <m:r>
                        <m:rPr>
                          <m:sty m:val="p"/>
                        </m:rPr>
                        <m:t>,</m:t>
                      </m:r>
                      <m:r>
                        <m:rPr>
                          <m:sty m:val="p"/>
                        </m:rPr>
                        <m:t>*</m:t>
                      </m:r>
                      <m:r>
                        <m:rPr>
                          <m:sty m:val="p"/>
                        </m:rPr>
                        <m:t>*</m:t>
                      </m:r>
                    </m:oMath>
                  </m:oMathPara>
                </a14:m>
              </a:p>
              <a:p>
                <a:pPr lvl="0" indent="0" marL="0">
                  <a:buNone/>
                </a:pPr>
                <a:r>
                  <a:rPr/>
                  <a:t>Just as in mathematics, we can use these operators to develop complex mathematical equations. Also like in math in a more general sense, parentheses can be used to give some operations a higher priority than they would normally have. For example:</a:t>
                </a:r>
              </a:p>
              <a:p>
                <a:pPr lvl="0" indent="0" marL="0">
                  <a:buNone/>
                </a:pPr>
                <a14:m>
                  <m:oMathPara xmlns:m="http://schemas.openxmlformats.org/officeDocument/2006/math">
                    <m:oMathParaPr>
                      <m:jc m:val="center"/>
                    </m:oMathParaPr>
                    <m:oMath>
                      <m:r>
                        <m:t>2</m:t>
                      </m:r>
                      <m:r>
                        <m:rPr>
                          <m:sty m:val="p"/>
                        </m:rPr>
                        <m:t>+</m:t>
                      </m:r>
                      <m:r>
                        <m:t>4</m:t>
                      </m:r>
                      <m:r>
                        <m:rPr>
                          <m:sty m:val="p"/>
                        </m:rPr>
                        <m:t>*</m:t>
                      </m:r>
                      <m:r>
                        <m:t>2</m:t>
                      </m:r>
                      <m:r>
                        <m:rPr>
                          <m:sty m:val="p"/>
                        </m:rPr>
                        <m:t>=</m:t>
                      </m:r>
                      <m:r>
                        <m:t>2</m:t>
                      </m:r>
                      <m:r>
                        <m:rPr>
                          <m:sty m:val="p"/>
                        </m:rPr>
                        <m:t>+</m:t>
                      </m:r>
                      <m:r>
                        <m:t>8</m:t>
                      </m:r>
                      <m:r>
                        <m:rPr>
                          <m:sty m:val="p"/>
                        </m:rPr>
                        <m:t>=</m:t>
                      </m:r>
                      <m:r>
                        <m:t>10</m:t>
                      </m:r>
                    </m:oMath>
                  </m:oMathPara>
                </a14:m>
              </a:p>
              <a:p>
                <a:pPr lvl="0" indent="0" marL="0">
                  <a:buNone/>
                </a:pPr>
                <a14:m>
                  <m:oMathPara xmlns:m="http://schemas.openxmlformats.org/officeDocument/2006/math">
                    <m:oMathParaPr>
                      <m:jc m:val="center"/>
                    </m:oMathParaPr>
                    <m:oMath>
                      <m:d>
                        <m:dPr>
                          <m:begChr m:val="("/>
                          <m:sepChr m:val=""/>
                          <m:endChr m:val=")"/>
                          <m:grow/>
                        </m:dPr>
                        <m:e>
                          <m:r>
                            <m:t>2</m:t>
                          </m:r>
                          <m:r>
                            <m:rPr>
                              <m:sty m:val="p"/>
                            </m:rPr>
                            <m:t>+</m:t>
                          </m:r>
                          <m:r>
                            <m:t>4</m:t>
                          </m:r>
                        </m:e>
                      </m:d>
                      <m:r>
                        <m:rPr>
                          <m:sty m:val="p"/>
                        </m:rPr>
                        <m:t>*</m:t>
                      </m:r>
                      <m:r>
                        <m:t>2</m:t>
                      </m:r>
                      <m:r>
                        <m:rPr>
                          <m:sty m:val="p"/>
                        </m:rPr>
                        <m:t>=</m:t>
                      </m:r>
                      <m:r>
                        <m:t>6</m:t>
                      </m:r>
                      <m:r>
                        <m:rPr>
                          <m:sty m:val="p"/>
                        </m:rPr>
                        <m:t>*</m:t>
                      </m:r>
                      <m:r>
                        <m:t>2</m:t>
                      </m:r>
                      <m:r>
                        <m:rPr>
                          <m:sty m:val="p"/>
                        </m:rPr>
                        <m:t>=</m:t>
                      </m:r>
                      <m:r>
                        <m:t>12</m:t>
                      </m:r>
                    </m:oMath>
                  </m:oMathPara>
                </a14:m>
              </a:p>
              <a:p>
                <a:pPr lvl="0" indent="-342900" marL="342900">
                  <a:buAutoNum type="arabicPeriod"/>
                </a:pPr>
                <a:r>
                  <a:rPr/>
                  <a:t>Using IDLE, write a Python program that uses each of the operators shown above at least once. Please include comments explaining what it looks like each operator does. You may need to experiment with some of them to figure out exactly what they’re doing. Name your program </a:t>
                </a:r>
                <a:r>
                  <a:rPr>
                    <a:latin typeface="Courier"/>
                  </a:rPr>
                  <a:t>arithmetic.py</a:t>
                </a:r>
                <a:r>
                  <a:rPr/>
                  <a:t>.</a:t>
                </a:r>
              </a:p>
              <a:p>
                <a:pPr lvl="0" indent="-342900" marL="342900">
                  <a:buAutoNum type="arabicPeriod"/>
                </a:pPr>
                <a:r>
                  <a:rPr/>
                  <a:t>Add print statements to give the same information as the comments so a user will see an explanation of what the program is doing whenever they run it.</a:t>
                </a:r>
              </a:p>
              <a:p>
                <a:pPr lvl="0" indent="-342900" marL="342900">
                  <a:buAutoNum type="arabicPeriod"/>
                </a:pPr>
                <a:r>
                  <a:rPr/>
                  <a:t>Taxes, tips, and totals: Now we’re going to write a program to calculate the tax, tip, and total cost for dining at a restaurant. Name your program </a:t>
                </a:r>
                <a:r>
                  <a:rPr>
                    <a:latin typeface="Courier"/>
                  </a:rPr>
                  <a:t>receipt.py</a:t>
                </a:r>
                <a:r>
                  <a:rPr/>
                  <a:t>.</a:t>
                </a:r>
              </a:p>
              <a:p>
                <a:pPr lvl="1" indent="0" marL="342900">
                  <a:buNone/>
                </a:pPr>
                <a:r>
                  <a:rPr/>
                  <a:t>Start by assigning the following values to variables:</a:t>
                </a:r>
              </a:p>
              <a:p>
                <a:pPr lvl="1" indent="-342900" marL="685800">
                  <a:buAutoNum type="romanLcPeriod"/>
                </a:pPr>
                <a:r>
                  <a:rPr/>
                  <a:t>The meal’s subtotal of $35 (example name: </a:t>
                </a:r>
                <a:r>
                  <a:rPr>
                    <a:latin typeface="Courier"/>
                  </a:rPr>
                  <a:t>meal_cost</a:t>
                </a:r>
                <a:r>
                  <a:rPr/>
                  <a:t>)</a:t>
                </a:r>
              </a:p>
              <a:p>
                <a:pPr lvl="1" indent="-342900" marL="685800">
                  <a:buAutoNum type="romanLcPeriod"/>
                </a:pPr>
                <a:r>
                  <a:rPr/>
                  <a:t>The meal’s tax rate of 7% (example name: </a:t>
                </a:r>
                <a:r>
                  <a:rPr>
                    <a:latin typeface="Courier"/>
                  </a:rPr>
                  <a:t>tax_rate</a:t>
                </a:r>
                <a:r>
                  <a:rPr/>
                  <a:t>)</a:t>
                </a:r>
              </a:p>
              <a:p>
                <a:pPr lvl="1" indent="-342900" marL="685800">
                  <a:buAutoNum type="romanLcPeriod"/>
                </a:pPr>
                <a:r>
                  <a:rPr/>
                  <a:t>The meal’s tip rate of 25% (example name: </a:t>
                </a:r>
                <a:r>
                  <a:rPr>
                    <a:latin typeface="Courier"/>
                  </a:rPr>
                  <a:t>tip_rate</a:t>
                </a:r>
                <a:r>
                  <a:rPr/>
                  <a:t>)</a:t>
                </a:r>
              </a:p>
              <a:p>
                <a:pPr lvl="0" indent="-342900" marL="342900">
                  <a:buAutoNum type="arabicPeriod"/>
                </a:pPr>
                <a:r>
                  <a:rPr/>
                  <a:t>Add code to compute the tax, tip, and total cost for the meal, then use print() to display a receipt that displays the following information:</a:t>
                </a:r>
              </a:p>
              <a:p>
                <a:pPr lvl="0" indent="0">
                  <a:buNone/>
                </a:pPr>
                <a:r>
                  <a:rPr>
                    <a:latin typeface="Courier"/>
                  </a:rPr>
                  <a:t>RECEIPT
Sub-total: $35
Tax:       $2.45
Tip:       $8.75
Total:     $46.20</a:t>
                </a:r>
              </a:p>
              <a:p>
                <a:pPr lvl="0" indent="-342900" marL="342900">
                  <a:buAutoNum startAt="5" type="arabicPeriod"/>
                </a:pPr>
                <a:r>
                  <a:rPr/>
                  <a:t>Make the numbers line up nicely. For the time being, it’s perfectly acceptable if $46.20 appears as $46.2 instead.</a:t>
                </a:r>
              </a:p>
              <a:p>
                <a:pPr lvl="0" indent="-342900" marL="342900">
                  <a:buAutoNum startAt="5" type="arabicPeriod"/>
                </a:pPr>
                <a:r>
                  <a:rPr/>
                  <a:t>Change the values assigned to each of the three variables you created. Do the results produced by the altered program make sense? (e.g. is the tip computed correctly?) If not, then figure out why and try to fix it.</a:t>
                </a:r>
              </a:p>
              <a:p>
                <a:pPr lvl="0" indent="-342900" marL="342900">
                  <a:buAutoNum startAt="5" type="arabicPeriod"/>
                </a:pPr>
                <a:r>
                  <a:rPr/>
                  <a:t>Adjust the program so that </a:t>
                </a:r>
                <a:r>
                  <a:rPr>
                    <a:latin typeface="Courier"/>
                  </a:rPr>
                  <a:t>meal_cost</a:t>
                </a:r>
                <a:r>
                  <a:rPr/>
                  <a:t>, </a:t>
                </a:r>
                <a:r>
                  <a:rPr>
                    <a:latin typeface="Courier"/>
                  </a:rPr>
                  <a:t>tax_rate</a:t>
                </a:r>
                <a:r>
                  <a:rPr/>
                  <a:t>, and </a:t>
                </a:r>
                <a:r>
                  <a:rPr>
                    <a:latin typeface="Courier"/>
                  </a:rPr>
                  <a:t>tip_rate</a:t>
                </a:r>
                <a:r>
                  <a:rPr/>
                  <a:t> are assigned from user input (i.e. using the </a:t>
                </a:r>
                <a:r>
                  <a:rPr>
                    <a:latin typeface="Courier"/>
                  </a:rPr>
                  <a:t>input()</a:t>
                </a:r>
                <a:r>
                  <a:rPr/>
                  <a:t> function and type-casting).</a:t>
                </a:r>
              </a:p>
              <a:p>
                <a:pPr lvl="0" indent="-342900" marL="342900">
                  <a:buAutoNum startAt="5" type="arabicPeriod"/>
                </a:pPr>
                <a:r>
                  <a:rPr/>
                  <a:t>Test the new version of the program to make sure that the receipt information is correct based on the input.</a:t>
                </a:r>
              </a:p>
              <a:p>
                <a:pPr lvl="0" indent="-342900" marL="342900">
                  <a:buAutoNum startAt="5" type="arabicPeriod"/>
                </a:pPr>
                <a:r>
                  <a:rPr/>
                  <a:t>If you haven’t already done so, make sure to add comments explaining how the program works.</a:t>
                </a:r>
              </a:p>
              <a:p>
                <a:pPr lvl="0" indent="-342900" marL="342900">
                  <a:buAutoNum startAt="5" type="arabicPeriod"/>
                </a:pPr>
                <a:r>
                  <a:rPr/>
                  <a:t>Can you display the whole receipt using a single </a:t>
                </a:r>
                <a:r>
                  <a:rPr>
                    <a:latin typeface="Courier"/>
                  </a:rPr>
                  <a:t>print()</a:t>
                </a:r>
                <a:r>
                  <a:rPr/>
                  <a:t> function call?</a:t>
                </a:r>
              </a:p>
              <a:p>
                <a:pPr lvl="0" indent="-342900" marL="342900">
                  <a:buAutoNum startAt="5" type="arabicPeriod"/>
                </a:pPr>
                <a:r>
                  <a:rPr/>
                  <a:t>Did the autograder produce error messages? How might you revise your algorithm and/or program?</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0" indent="-342900" marL="342900">
                  <a:buAutoNum startAt="5" type="arabicPeriod"/>
                </a:pPr>
                <a:r>
                  <a:rPr/>
                  <a:t>Were you able to solve this task? If not, can you think of anything else to try?</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0" indent="0" marL="0">
                  <a:buNone/>
                </a:pPr>
                <a:r>
                  <a:rPr b="1"/>
                  <a:t>For portfolio submission, insert you printed program pages here.</a:t>
                </a:r>
              </a:p>
            </p:txBody>
          </p:sp>
        </mc:Choice>
      </mc:AlternateContent>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20" end="2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21" end="21"/>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xEl>
                                              <p:pRg st="22" end="22"/>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
                                            <p:txEl>
                                              <p:pRg st="23" end="23"/>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
                                            <p:txEl>
                                              <p:pRg st="24" end="24"/>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
                                            <p:txEl>
                                              <p:pRg st="25" end="25"/>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
                                            <p:txEl>
                                              <p:pRg st="26" end="26"/>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
                                            <p:txEl>
                                              <p:pRg st="27" end="27"/>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3">
                                            <p:txEl>
                                              <p:pRg st="28" end="28"/>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3">
                                            <p:txEl>
                                              <p:pRg st="29" end="29"/>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3">
                                            <p:txEl>
                                              <p:pRg st="30" end="30"/>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3">
                                            <p:txEl>
                                              <p:pRg st="31" end="31"/>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3">
                                            <p:txEl>
                                              <p:pRg st="32" end="32"/>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3">
                                            <p:txEl>
                                              <p:pRg st="33" end="33"/>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3">
                                            <p:txEl>
                                              <p:pRg st="34" end="34"/>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3">
                                            <p:txEl>
                                              <p:pRg st="35" end="35"/>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3">
                                            <p:txEl>
                                              <p:pRg st="36" end="36"/>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3">
                                            <p:txEl>
                                              <p:pRg st="37" end="37"/>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3">
                                            <p:txEl>
                                              <p:pRg st="38" end="3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64498"/>
            <a:ext cx="3008313" cy="364292"/>
          </a:xfrm>
          <a:prstGeom prst="rect">
            <a:avLst/>
          </a:prstGeom>
        </p:spPr>
        <p:txBody>
          <a:bodyPr/>
          <a:lstStyle/>
          <a:p>
            <a:pPr lvl="0" indent="0" marL="0">
              <a:buNone/>
            </a:pPr>
            <a:r>
              <a:rPr/>
              <a:t>A9) Programming practice: Reeborg</a:t>
            </a:r>
          </a:p>
        </p:txBody>
      </p:sp>
      <p:sp>
        <p:nvSpPr>
          <p:cNvPr id="4" name="Text Placeholder 3"/>
          <p:cNvSpPr>
            <a:spLocks noGrp="1"/>
          </p:cNvSpPr>
          <p:nvPr>
            <p:ph idx="2" sz="half" type="body"/>
          </p:nvPr>
        </p:nvSpPr>
        <p:spPr/>
        <p:txBody>
          <a:bodyPr/>
          <a:lstStyle/>
          <a:p>
            <a:pPr lvl="0" indent="-342900" marL="342900">
              <a:buAutoNum startAt="0" type="arabicPeriod"/>
            </a:pPr>
            <a:r>
              <a:rPr/>
              <a:t>Do this part on the Reeborg’s World website.</a:t>
            </a:r>
          </a:p>
          <a:p>
            <a:pPr lvl="0" indent="-342900" marL="342900">
              <a:buAutoNum startAt="0" type="arabicPeriod"/>
            </a:pPr>
            <a:r>
              <a:rPr/>
              <a:t>Download the starter code from the course website.</a:t>
            </a:r>
          </a:p>
          <a:p>
            <a:pPr lvl="1"/>
            <a:r>
              <a:rPr/>
              <a:t>It is one file called: </a:t>
            </a:r>
            <a:r>
              <a:rPr>
                <a:latin typeface="Courier"/>
              </a:rPr>
              <a:t>winding_sandbar.json</a:t>
            </a:r>
          </a:p>
          <a:p>
            <a:pPr lvl="0" indent="-342900" marL="342900">
              <a:buAutoNum startAt="0" type="arabicPeriod"/>
            </a:pPr>
            <a:r>
              <a:rPr/>
              <a:t>Import the starter file winding_sandbar.json into Reeborg.</a:t>
            </a:r>
          </a:p>
          <a:p>
            <a:pPr lvl="1"/>
            <a:r>
              <a:rPr/>
              <a:t>To import a program, open the “Additional options” menu.</a:t>
            </a:r>
          </a:p>
          <a:p>
            <a:pPr lvl="1"/>
            <a:r>
              <a:rPr/>
              <a:t>Then look for the button “Open world from file.”</a:t>
            </a:r>
          </a:p>
          <a:p>
            <a:pPr lvl="1"/>
            <a:r>
              <a:rPr/>
              <a:t>This should show you an environment that looks as follows:</a:t>
            </a:r>
          </a:p>
        </p:txBody>
      </p:sp>
      <p:pic>
        <p:nvPicPr>
          <p:cNvPr descr="images/reeborg_sandbar.png" id="0" name="Picture 1"/>
          <p:cNvPicPr>
            <a:picLocks noGrp="1" noChangeAspect="1"/>
          </p:cNvPicPr>
          <p:nvPr/>
        </p:nvPicPr>
        <p:blipFill>
          <a:blip r:embed="rId2"/>
          <a:stretch>
            <a:fillRect/>
          </a:stretch>
        </p:blipFill>
        <p:spPr bwMode="auto">
          <a:xfrm>
            <a:off x="4953000" y="1727200"/>
            <a:ext cx="2349500" cy="2336800"/>
          </a:xfrm>
          <a:prstGeom prst="rect">
            <a:avLst/>
          </a:prstGeom>
          <a:noFill/>
          <a:ln w="9525">
            <a:noFill/>
            <a:headEnd/>
            <a:tailEnd/>
          </a:ln>
        </p:spPr>
      </p:pic>
      <p:sp>
        <p:nvSpPr>
          <p:cNvPr id="1" name="TextBox 3"/>
          <p:cNvSpPr txBox="1"/>
          <p:nvPr/>
        </p:nvSpPr>
        <p:spPr>
          <a:xfrm>
            <a:off x="3568700" y="4064000"/>
            <a:ext cx="5105400" cy="508000"/>
          </a:xfrm>
          <a:prstGeom prst="rect">
            <a:avLst/>
          </a:prstGeom>
          <a:noFill/>
        </p:spPr>
        <p:txBody>
          <a:bodyPr/>
          <a:lstStyle/>
          <a:p>
            <a:pPr lvl="0" indent="0" marL="0" algn="ctr">
              <a:buNone/>
            </a:pPr>
            <a:r>
              <a:rPr/>
              <a:t>Reeborg Winding Sandbar</a:t>
            </a:r>
          </a:p>
        </p:txBody>
      </p:sp>
      <p:sp>
        <p:nvSpPr>
          <p:cNvPr id="3" name="Content Placeholder 2"/>
          <p:cNvSpPr>
            <a:spLocks noGrp="1"/>
          </p:cNvSpPr>
          <p:nvPr>
            <p:ph idx="1"/>
          </p:nvPr>
        </p:nvSpPr>
        <p:spPr/>
        <p:txBody>
          <a:bodyPr/>
          <a:lstStyle/>
          <a:p>
            <a:pPr lvl="0" indent="-342900" marL="342900">
              <a:buAutoNum startAt="3" type="arabicPeriod"/>
            </a:pPr>
            <a:r>
              <a:rPr/>
              <a:t>What is the goal in this world?</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0" indent="-342900" marL="342900">
              <a:buAutoNum startAt="3" type="arabicPeriod"/>
            </a:pPr>
            <a:r>
              <a:rPr/>
              <a:t>In english (not code), what is your algorithm for your solution?</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0" indent="-342900" marL="342900">
              <a:buAutoNum startAt="3" type="arabicPeriod"/>
            </a:pPr>
            <a:r>
              <a:rPr/>
              <a:t>Complete the program so that Reeborg picks up the stars, deposits them in the indicated spots and finishes at the house. Save your program file (not the world file) in a file with the name </a:t>
            </a:r>
            <a:r>
              <a:rPr>
                <a:latin typeface="Courier"/>
              </a:rPr>
              <a:t>winding_sandbar.py</a:t>
            </a:r>
            <a:r>
              <a:rPr/>
              <a:t>.</a:t>
            </a:r>
          </a:p>
          <a:p>
            <a:pPr lvl="1"/>
            <a:r>
              <a:rPr/>
              <a:t>When pair-programming, as you go, add comments throughout indicating who was the “driver” and who was the “navigator” for each chunk.</a:t>
            </a:r>
          </a:p>
          <a:p>
            <a:pPr lvl="0" indent="-342900" marL="342900">
              <a:buAutoNum startAt="3" type="arabicPeriod"/>
            </a:pPr>
            <a:r>
              <a:rPr/>
              <a:t>Share the program between pairs using email or Google drive/</a:t>
            </a:r>
          </a:p>
          <a:p>
            <a:pPr lvl="0" indent="-342900" marL="342900">
              <a:buAutoNum startAt="3" type="arabicPeriod"/>
            </a:pPr>
            <a:r>
              <a:rPr/>
              <a:t>Individually add comments to your code. Explain the different steps and including a header comment that names your partner.</a:t>
            </a:r>
          </a:p>
          <a:p>
            <a:pPr lvl="0" indent="-342900" marL="342900">
              <a:buAutoNum startAt="3" type="arabicPeriod"/>
            </a:pPr>
            <a:r>
              <a:rPr/>
              <a:t>Submit your code on gradescope. Remember to also print it out to submit with your portfolio.</a:t>
            </a:r>
          </a:p>
          <a:p>
            <a:pPr lvl="0" indent="-342900" marL="342900">
              <a:buAutoNum startAt="3" type="arabicPeriod"/>
            </a:pPr>
            <a:r>
              <a:rPr/>
              <a:t>Did the autograder produce error messages? How might you revise your algorithm and/or program?</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0" indent="-342900" marL="342900">
              <a:buAutoNum startAt="3" type="arabicPeriod"/>
            </a:pPr>
            <a:r>
              <a:rPr/>
              <a:t>Were you able to solve this task? If not, can you think of anything else to try?</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0" indent="0" marL="0">
              <a:buNone/>
            </a:pPr>
            <a:r>
              <a:rPr b="1"/>
              <a:t>For portfolio submission, insert you printed program pages here.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
                                            <p:txEl>
                                              <p:pRg st="5" end="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
                                            <p:txEl>
                                              <p:pRg st="6" end="6"/>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
                                            <p:txEl>
                                              <p:pRg st="7" end="7"/>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
                                            <p:txEl>
                                              <p:pRg st="8" end="8"/>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
                                            <p:txEl>
                                              <p:pRg st="9" end="9"/>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
                                            <p:txEl>
                                              <p:pRg st="10" end="10"/>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
                                            <p:txEl>
                                              <p:pRg st="11" end="11"/>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
                                            <p:txEl>
                                              <p:pRg st="12" end="12"/>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
                                            <p:txEl>
                                              <p:pRg st="13" end="13"/>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
                                            <p:txEl>
                                              <p:pRg st="14" end="14"/>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
                                            <p:txEl>
                                              <p:pRg st="15" end="15"/>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1">
                                            <p:txEl>
                                              <p:pRg st="16" end="16"/>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1">
                                            <p:txEl>
                                              <p:pRg st="17" end="17"/>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1">
                                            <p:txEl>
                                              <p:pRg st="18" end="18"/>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1">
                                            <p:txEl>
                                              <p:pRg st="19" end="19"/>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1">
                                            <p:txEl>
                                              <p:pRg st="20" end="20"/>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1">
                                            <p:txEl>
                                              <p:pRg st="21" end="21"/>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1">
                                            <p:txEl>
                                              <p:pRg st="22" end="22"/>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1">
                                            <p:txEl>
                                              <p:pRg st="23" end="23"/>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1">
                                            <p:txEl>
                                              <p:pRg st="24" end="24"/>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1">
                                            <p:txEl>
                                              <p:pRg st="25" end="25"/>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1">
                                            <p:txEl>
                                              <p:pRg st="26" end="26"/>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1">
                                            <p:txEl>
                                              <p:pRg st="27" end="27"/>
                                            </p:txEl>
                                          </p:spTgt>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1">
                                            <p:txEl>
                                              <p:pRg st="28" end="28"/>
                                            </p:txEl>
                                          </p:spTgt>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1">
                                            <p:txEl>
                                              <p:pRg st="29" end="29"/>
                                            </p:txEl>
                                          </p:spTgt>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1">
                                            <p:txEl>
                                              <p:pRg st="30" end="30"/>
                                            </p:txEl>
                                          </p:spTgt>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1">
                                            <p:txEl>
                                              <p:pRg st="31" end="31"/>
                                            </p:txEl>
                                          </p:spTgt>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1">
                                            <p:txEl>
                                              <p:pRg st="32" end="32"/>
                                            </p:txEl>
                                          </p:spTgt>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1">
                                            <p:txEl>
                                              <p:pRg st="33" end="3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1"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64498"/>
            <a:ext cx="3008313" cy="364292"/>
          </a:xfrm>
          <a:prstGeom prst="rect">
            <a:avLst/>
          </a:prstGeom>
        </p:spPr>
        <p:txBody>
          <a:bodyPr/>
          <a:lstStyle/>
          <a:p>
            <a:pPr lvl="0" indent="0" marL="0">
              <a:buNone/>
            </a:pPr>
            <a:r>
              <a:rPr/>
              <a:t>A10) Programming Practice: Turtle in Python</a:t>
            </a:r>
          </a:p>
        </p:txBody>
      </p:sp>
      <p:sp>
        <p:nvSpPr>
          <p:cNvPr id="4" name="Text Placeholder 3"/>
          <p:cNvSpPr>
            <a:spLocks noGrp="1"/>
          </p:cNvSpPr>
          <p:nvPr>
            <p:ph idx="2" sz="half" type="body"/>
          </p:nvPr>
        </p:nvSpPr>
        <p:spPr/>
        <p:txBody>
          <a:bodyPr/>
          <a:lstStyle/>
          <a:p>
            <a:pPr lvl="0" indent="-342900" marL="342900">
              <a:buAutoNum startAt="0" type="arabicPeriod"/>
            </a:pPr>
            <a:r>
              <a:rPr/>
              <a:t>Your goal is to write a program that uses the turtle module to draw the following picture.</a:t>
            </a:r>
          </a:p>
        </p:txBody>
      </p:sp>
      <p:pic>
        <p:nvPicPr>
          <p:cNvPr descr="images/turtle_squares_bw.png" id="0" name="Picture 1"/>
          <p:cNvPicPr>
            <a:picLocks noGrp="1" noChangeAspect="1"/>
          </p:cNvPicPr>
          <p:nvPr/>
        </p:nvPicPr>
        <p:blipFill>
          <a:blip r:embed="rId2"/>
          <a:stretch>
            <a:fillRect/>
          </a:stretch>
        </p:blipFill>
        <p:spPr bwMode="auto">
          <a:xfrm>
            <a:off x="4521200" y="1727200"/>
            <a:ext cx="3200400" cy="2336800"/>
          </a:xfrm>
          <a:prstGeom prst="rect">
            <a:avLst/>
          </a:prstGeom>
          <a:noFill/>
          <a:ln w="9525">
            <a:noFill/>
            <a:headEnd/>
            <a:tailEnd/>
          </a:ln>
        </p:spPr>
      </p:pic>
      <p:sp>
        <p:nvSpPr>
          <p:cNvPr id="1" name="TextBox 3"/>
          <p:cNvSpPr txBox="1"/>
          <p:nvPr/>
        </p:nvSpPr>
        <p:spPr>
          <a:xfrm>
            <a:off x="3568700" y="4064000"/>
            <a:ext cx="5105400" cy="508000"/>
          </a:xfrm>
          <a:prstGeom prst="rect">
            <a:avLst/>
          </a:prstGeom>
          <a:noFill/>
        </p:spPr>
        <p:txBody>
          <a:bodyPr/>
          <a:lstStyle/>
          <a:p>
            <a:pPr lvl="0" indent="0" marL="0" algn="ctr">
              <a:buNone/>
            </a:pPr>
            <a:r>
              <a:rPr/>
              <a:t>Turtle Squares</a:t>
            </a:r>
          </a:p>
        </p:txBody>
      </p:sp>
      <p:sp>
        <p:nvSpPr>
          <p:cNvPr id="3" name="Content Placeholder 2"/>
          <p:cNvSpPr>
            <a:spLocks noGrp="1"/>
          </p:cNvSpPr>
          <p:nvPr>
            <p:ph idx="1"/>
          </p:nvPr>
        </p:nvSpPr>
        <p:spPr/>
        <p:txBody>
          <a:bodyPr/>
          <a:lstStyle/>
          <a:p>
            <a:pPr lvl="0" indent="-342900" marL="342900">
              <a:buAutoNum type="arabicPeriod"/>
            </a:pPr>
            <a:r>
              <a:rPr/>
              <a:t>In english (not code), what is your algorithm for your solution?</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0" indent="-342900" marL="342900">
              <a:buAutoNum type="arabicPeriod"/>
            </a:pPr>
            <a:r>
              <a:rPr/>
              <a:t>Now, in IDLE, write your program in Python. Save your program in a file called squares.py</a:t>
            </a:r>
          </a:p>
          <a:p>
            <a:pPr lvl="0" indent="-342900" marL="342900">
              <a:buAutoNum type="arabicPeriod"/>
            </a:pPr>
            <a:r>
              <a:rPr/>
              <a:t>Think about how you would modify your program so that it draws the same three squares, but each of them in a different color.</a:t>
            </a:r>
          </a:p>
        </p:txBody>
      </p:sp>
      <p:pic>
        <p:nvPicPr>
          <p:cNvPr descr="images/turtle_squares_color.png" id="0" name="Picture 1"/>
          <p:cNvPicPr>
            <a:picLocks noGrp="1" noChangeAspect="1"/>
          </p:cNvPicPr>
          <p:nvPr/>
        </p:nvPicPr>
        <p:blipFill>
          <a:blip r:embed="rId3"/>
          <a:stretch>
            <a:fillRect/>
          </a:stretch>
        </p:blipFill>
        <p:spPr bwMode="auto">
          <a:xfrm>
            <a:off x="4406900" y="1727200"/>
            <a:ext cx="3429000" cy="2336800"/>
          </a:xfrm>
          <a:prstGeom prst="rect">
            <a:avLst/>
          </a:prstGeom>
          <a:noFill/>
          <a:ln w="9525">
            <a:noFill/>
            <a:headEnd/>
            <a:tailEnd/>
          </a:ln>
        </p:spPr>
      </p:pic>
      <p:sp>
        <p:nvSpPr>
          <p:cNvPr id="1" name="TextBox 3"/>
          <p:cNvSpPr txBox="1"/>
          <p:nvPr/>
        </p:nvSpPr>
        <p:spPr>
          <a:xfrm>
            <a:off x="3568700" y="4064000"/>
            <a:ext cx="5105400" cy="508000"/>
          </a:xfrm>
          <a:prstGeom prst="rect">
            <a:avLst/>
          </a:prstGeom>
          <a:noFill/>
        </p:spPr>
        <p:txBody>
          <a:bodyPr/>
          <a:lstStyle/>
          <a:p>
            <a:pPr lvl="0" indent="0" marL="0" algn="ctr">
              <a:buNone/>
            </a:pPr>
            <a:r>
              <a:rPr/>
              <a:t>Turtle Squares in Color</a:t>
            </a:r>
          </a:p>
        </p:txBody>
      </p:sp>
      <p:sp>
        <p:nvSpPr>
          <p:cNvPr id="3" name="Content Placeholder 2"/>
          <p:cNvSpPr>
            <a:spLocks noGrp="1"/>
          </p:cNvSpPr>
          <p:nvPr>
            <p:ph idx="1"/>
          </p:nvPr>
        </p:nvSpPr>
        <p:spPr/>
        <p:txBody>
          <a:bodyPr/>
          <a:lstStyle/>
          <a:p>
            <a:pPr lvl="0" indent="-342900" marL="342900">
              <a:buAutoNum startAt="3" type="arabicPeriod"/>
            </a:pPr>
            <a:r>
              <a:rPr/>
              <a:t>(cont.) In english (not code), what is your algorithm for your solution?</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0" indent="-342900" marL="342900">
              <a:buAutoNum startAt="3" type="arabicPeriod"/>
            </a:pPr>
            <a:r>
              <a:rPr/>
              <a:t>Now edit your previous program to implement your new algorithm. Don’t forget to add comments to your code to help human readers. Save your program in a file called colored_squares.py.</a:t>
            </a:r>
          </a:p>
          <a:p>
            <a:pPr lvl="0" indent="-342900" marL="342900">
              <a:buAutoNum startAt="3" type="arabicPeriod"/>
            </a:pPr>
            <a:r>
              <a:rPr/>
              <a:t>Submit your code on gradescope. Remember to also print it out to submit with your portfolio.</a:t>
            </a:r>
          </a:p>
          <a:p>
            <a:pPr lvl="0" indent="-342900" marL="342900">
              <a:buAutoNum startAt="3" type="arabicPeriod"/>
            </a:pPr>
            <a:r>
              <a:rPr/>
              <a:t>Did the autograder produce error messages? How might you revise your algorithm and/or program?</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0" indent="-342900" marL="342900">
              <a:buAutoNum startAt="3" type="arabicPeriod"/>
            </a:pPr>
            <a:r>
              <a:rPr/>
              <a:t>Were you able to solve this task? If not, can you think of anything else to try?</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0" indent="0" marL="0">
              <a:buNone/>
            </a:pPr>
            <a:r>
              <a:rPr b="1"/>
              <a:t>For portfolio submission, insert you printed program pages here.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0">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0">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0">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0">
                                            <p:txEl>
                                              <p:pRg st="3" end="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0">
                                            <p:txEl>
                                              <p:pRg st="4" end="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0">
                                            <p:txEl>
                                              <p:pRg st="5" end="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0">
                                            <p:txEl>
                                              <p:pRg st="6" end="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0">
                                            <p:txEl>
                                              <p:pRg st="7" end="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0">
                                            <p:txEl>
                                              <p:pRg st="8" end="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0">
                                            <p:txEl>
                                              <p:pRg st="9" end="9"/>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0">
                                            <p:txEl>
                                              <p:pRg st="10" end="10"/>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0">
                                            <p:txEl>
                                              <p:pRg st="11" end="11"/>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0">
                                            <p:txEl>
                                              <p:pRg st="12" end="12"/>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0">
                                            <p:txEl>
                                              <p:pRg st="13" end="13"/>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0">
                                            <p:txEl>
                                              <p:pRg st="14" end="14"/>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0">
                                            <p:txEl>
                                              <p:pRg st="15" end="15"/>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0">
                                            <p:txEl>
                                              <p:pRg st="16" end="16"/>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0">
                                            <p:txEl>
                                              <p:pRg st="17" end="17"/>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0">
                                            <p:txEl>
                                              <p:pRg st="18" end="18"/>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0">
                                            <p:txEl>
                                              <p:pRg st="19" end="19"/>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0">
                                            <p:txEl>
                                              <p:pRg st="20" end="20"/>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0">
                                            <p:txEl>
                                              <p:pRg st="21" end="21"/>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0">
                                            <p:txEl>
                                              <p:pRg st="22" end="22"/>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0">
                                            <p:txEl>
                                              <p:pRg st="23" end="2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1" grpId="0" uiExpand="1" build="p"/>
      <p:bldP spid="0"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83297"/>
            <a:ext cx="8229600" cy="857250"/>
          </a:xfrm>
          <a:prstGeom prst="rect">
            <a:avLst/>
          </a:prstGeom>
        </p:spPr>
        <p:txBody>
          <a:bodyPr/>
          <a:lstStyle/>
          <a:p>
            <a:pPr lvl="0" indent="0" marL="0">
              <a:buNone/>
            </a:pPr>
            <a:r>
              <a:rPr/>
              <a:t>B1: Share-out</a:t>
            </a:r>
          </a:p>
        </p:txBody>
      </p:sp>
      <p:sp>
        <p:nvSpPr>
          <p:cNvPr id="3" name="Content Placeholder 2"/>
          <p:cNvSpPr>
            <a:spLocks noGrp="1"/>
          </p:cNvSpPr>
          <p:nvPr>
            <p:ph idx="1"/>
          </p:nvPr>
        </p:nvSpPr>
        <p:spPr/>
        <p:txBody>
          <a:bodyPr/>
          <a:lstStyle/>
          <a:p>
            <a:pPr lvl="0" indent="-342900" marL="342900">
              <a:buAutoNum startAt="0" type="arabicPeriod"/>
            </a:pPr>
            <a:r>
              <a:rPr/>
              <a:t>Did you share-out this week? If not, and if you would like to make up your credit, where in the upcoming schedule would you like to be added?</a:t>
            </a:r>
          </a:p>
          <a:p>
            <a:pPr lvl="1" indent="0" marL="342900">
              <a:buNone/>
            </a:pPr>
            <a:r>
              <a:rPr/>
              <a:t>………………………………………………………………………………………………</a:t>
            </a:r>
          </a:p>
          <a:p>
            <a:pPr lvl="1" indent="0" marL="342900">
              <a:buNone/>
            </a:pPr>
            <a:r>
              <a:rPr/>
              <a:t>………………………………………………………………………………………………</a:t>
            </a:r>
          </a:p>
          <a:p>
            <a:pPr lvl="1" indent="0" marL="342900">
              <a:buNone/>
            </a:pPr>
            <a:r>
              <a:rPr/>
              <a:t>………………………………………………………………………………………………</a:t>
            </a:r>
          </a:p>
          <a:p>
            <a:pPr lvl="1" indent="0" marL="342900">
              <a:buNone/>
            </a:pPr>
            <a:r>
              <a:rPr/>
              <a:t>………………………………………………………………………………………………</a:t>
            </a:r>
          </a:p>
          <a:p>
            <a:pPr lvl="0" indent="-342900" marL="342900">
              <a:buAutoNum startAt="0" type="arabicPeriod"/>
            </a:pPr>
            <a:r>
              <a:rPr/>
              <a:t>For which activity did you share-out?</a:t>
            </a:r>
          </a:p>
          <a:p>
            <a:pPr lvl="1" indent="0" marL="342900">
              <a:buNone/>
            </a:pPr>
            <a:r>
              <a:rPr/>
              <a:t>………………………………………………………………………………………………</a:t>
            </a:r>
          </a:p>
          <a:p>
            <a:pPr lvl="1" indent="0" marL="342900">
              <a:buNone/>
            </a:pPr>
            <a:r>
              <a:rPr/>
              <a:t>………………………………………………………………………………………………</a:t>
            </a:r>
          </a:p>
          <a:p>
            <a:pPr lvl="1" indent="0" marL="342900">
              <a:buNone/>
            </a:pPr>
            <a:r>
              <a:rPr/>
              <a:t>………………………………………………………………………………………………</a:t>
            </a:r>
          </a:p>
          <a:p>
            <a:pPr lvl="1" indent="0" marL="342900">
              <a:buNone/>
            </a:pPr>
            <a:r>
              <a:rPr/>
              <a:t>………………………………………………………………………………………………</a:t>
            </a:r>
          </a:p>
          <a:p>
            <a:pPr lvl="0" indent="-342900" marL="342900">
              <a:buAutoNum startAt="0" type="arabicPeriod"/>
            </a:pPr>
            <a:r>
              <a:rPr/>
              <a:t>What was the solution you shared?</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0" indent="-342900" marL="342900">
              <a:buAutoNum startAt="0" type="arabicPeriod"/>
            </a:pPr>
            <a:r>
              <a:rPr/>
              <a:t>If any, what changes did you make to your solution in response to questions or discussion?</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
                                            <p:txEl>
                                              <p:pRg st="20" end="20"/>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
                                            <p:txEl>
                                              <p:pRg st="21" end="21"/>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3">
                                            <p:txEl>
                                              <p:pRg st="22" end="22"/>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3">
                                            <p:txEl>
                                              <p:pRg st="23" end="23"/>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3">
                                            <p:txEl>
                                              <p:pRg st="24" end="24"/>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3">
                                            <p:txEl>
                                              <p:pRg st="25" end="25"/>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3">
                                            <p:txEl>
                                              <p:pRg st="26" end="26"/>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3">
                                            <p:txEl>
                                              <p:pRg st="27" end="27"/>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3">
                                            <p:txEl>
                                              <p:pRg st="28" end="28"/>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3">
                                            <p:txEl>
                                              <p:pRg st="29" end="2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83297"/>
            <a:ext cx="8229600" cy="857250"/>
          </a:xfrm>
          <a:prstGeom prst="rect">
            <a:avLst/>
          </a:prstGeom>
        </p:spPr>
        <p:txBody>
          <a:bodyPr/>
          <a:lstStyle/>
          <a:p>
            <a:pPr lvl="0" indent="0" marL="0">
              <a:buNone/>
            </a:pPr>
            <a:r>
              <a:rPr/>
              <a:t>B2: Share-out 2 (optional, for make-ups)</a:t>
            </a:r>
          </a:p>
        </p:txBody>
      </p:sp>
      <p:sp>
        <p:nvSpPr>
          <p:cNvPr id="3" name="Content Placeholder 2"/>
          <p:cNvSpPr>
            <a:spLocks noGrp="1"/>
          </p:cNvSpPr>
          <p:nvPr>
            <p:ph idx="1"/>
          </p:nvPr>
        </p:nvSpPr>
        <p:spPr/>
        <p:txBody>
          <a:bodyPr/>
          <a:lstStyle/>
          <a:p>
            <a:pPr lvl="0" indent="-342900" marL="342900">
              <a:buAutoNum startAt="0" type="arabicPeriod"/>
            </a:pPr>
            <a:r>
              <a:rPr/>
              <a:t>Did you share-out this week? If not, and if you would like to make up your credit, where in the upcoming schedule would you like to be added?</a:t>
            </a:r>
          </a:p>
          <a:p>
            <a:pPr lvl="1" indent="0" marL="342900">
              <a:buNone/>
            </a:pPr>
            <a:r>
              <a:rPr/>
              <a:t>………………………………………………………………………………………………</a:t>
            </a:r>
          </a:p>
          <a:p>
            <a:pPr lvl="1" indent="0" marL="342900">
              <a:buNone/>
            </a:pPr>
            <a:r>
              <a:rPr/>
              <a:t>………………………………………………………………………………………………</a:t>
            </a:r>
          </a:p>
          <a:p>
            <a:pPr lvl="1" indent="0" marL="342900">
              <a:buNone/>
            </a:pPr>
            <a:r>
              <a:rPr/>
              <a:t>………………………………………………………………………………………………</a:t>
            </a:r>
          </a:p>
          <a:p>
            <a:pPr lvl="1" indent="0" marL="342900">
              <a:buNone/>
            </a:pPr>
            <a:r>
              <a:rPr/>
              <a:t>………………………………………………………………………………………………</a:t>
            </a:r>
          </a:p>
          <a:p>
            <a:pPr lvl="0" indent="-342900" marL="342900">
              <a:buAutoNum startAt="0" type="arabicPeriod"/>
            </a:pPr>
            <a:r>
              <a:rPr/>
              <a:t>For which activity did you share-out?</a:t>
            </a:r>
          </a:p>
          <a:p>
            <a:pPr lvl="1" indent="0" marL="342900">
              <a:buNone/>
            </a:pPr>
            <a:r>
              <a:rPr/>
              <a:t>………………………………………………………………………………………………</a:t>
            </a:r>
          </a:p>
          <a:p>
            <a:pPr lvl="1" indent="0" marL="342900">
              <a:buNone/>
            </a:pPr>
            <a:r>
              <a:rPr/>
              <a:t>………………………………………………………………………………………………</a:t>
            </a:r>
          </a:p>
          <a:p>
            <a:pPr lvl="1" indent="0" marL="342900">
              <a:buNone/>
            </a:pPr>
            <a:r>
              <a:rPr/>
              <a:t>………………………………………………………………………………………………</a:t>
            </a:r>
          </a:p>
          <a:p>
            <a:pPr lvl="1" indent="0" marL="342900">
              <a:buNone/>
            </a:pPr>
            <a:r>
              <a:rPr/>
              <a:t>………………………………………………………………………………………………</a:t>
            </a:r>
          </a:p>
          <a:p>
            <a:pPr lvl="0" indent="-342900" marL="342900">
              <a:buAutoNum startAt="0" type="arabicPeriod"/>
            </a:pPr>
            <a:r>
              <a:rPr/>
              <a:t>What was the solution you shared?</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0" indent="-342900" marL="342900">
              <a:buAutoNum startAt="0" type="arabicPeriod"/>
            </a:pPr>
            <a:r>
              <a:rPr/>
              <a:t>If any, what changes did you make to your solution in response to questions or discussion?</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a:p>
            <a:pPr lvl="1" indent="0" marL="342900">
              <a:buNone/>
            </a:pPr>
            <a:r>
              <a:rPr/>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
                                            <p:txEl>
                                              <p:pRg st="20" end="20"/>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
                                            <p:txEl>
                                              <p:pRg st="21" end="21"/>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3">
                                            <p:txEl>
                                              <p:pRg st="22" end="22"/>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3">
                                            <p:txEl>
                                              <p:pRg st="23" end="23"/>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3">
                                            <p:txEl>
                                              <p:pRg st="24" end="24"/>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3">
                                            <p:txEl>
                                              <p:pRg st="25" end="25"/>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3">
                                            <p:txEl>
                                              <p:pRg st="26" end="26"/>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3">
                                            <p:txEl>
                                              <p:pRg st="27" end="27"/>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3">
                                            <p:txEl>
                                              <p:pRg st="28" end="28"/>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3">
                                            <p:txEl>
                                              <p:pRg st="29" end="2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eaching_template2" id="{CBC56AD8-951C-2944-A4E3-F767E8CAE259}" vid="{30215DE4-107A-5045-906F-05FEE4F28AC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Avenir Book</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 106 Can Computers Think? Portfolio 1, Student Inititals -</dc:title>
  <dc:creator/>
  <cp:keywords/>
  <dcterms:created xsi:type="dcterms:W3CDTF">2026-09-09T02:16:36Z</dcterms:created>
  <dcterms:modified xsi:type="dcterms:W3CDTF">2026-09-09T02:16:36Z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header-includes">
    <vt:lpwstr/>
  </property>
  <property fmtid="{D5CDD505-2E9C-101B-9397-08002B2CF9AE}" pid="4" name="include-after">
    <vt:lpwstr/>
  </property>
  <property fmtid="{D5CDD505-2E9C-101B-9397-08002B2CF9AE}" pid="5" name="include-before">
    <vt:lpwstr/>
  </property>
  <property fmtid="{D5CDD505-2E9C-101B-9397-08002B2CF9AE}" pid="6" name="jupyter">
    <vt:lpwstr>python3</vt:lpwstr>
  </property>
  <property fmtid="{D5CDD505-2E9C-101B-9397-08002B2CF9AE}" pid="7" name="labels">
    <vt:lpwstr/>
  </property>
  <property fmtid="{D5CDD505-2E9C-101B-9397-08002B2CF9AE}" pid="8" name="toc-title">
    <vt:lpwstr>Table of contents</vt:lpwstr>
  </property>
</Properties>
</file>